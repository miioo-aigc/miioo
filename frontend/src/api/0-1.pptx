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19.svg" ContentType="image/svg+xml"/>
  <Override PartName="/ppt/media/image21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6" r:id="rId12"/>
    <p:sldId id="265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7.xml"/><Relationship Id="rId4" Type="http://schemas.openxmlformats.org/officeDocument/2006/relationships/image" Target="../media/image11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image" Target="../media/image13.svg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8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2.xml"/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tags" Target="../tags/tag83.xml"/><Relationship Id="rId3" Type="http://schemas.openxmlformats.org/officeDocument/2006/relationships/image" Target="../media/image15.svg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89.xml"/><Relationship Id="rId2" Type="http://schemas.openxmlformats.org/officeDocument/2006/relationships/image" Target="../media/image2.png"/><Relationship Id="rId19" Type="http://schemas.openxmlformats.org/officeDocument/2006/relationships/image" Target="../media/image27.png"/><Relationship Id="rId18" Type="http://schemas.openxmlformats.org/officeDocument/2006/relationships/image" Target="../media/image26.png"/><Relationship Id="rId17" Type="http://schemas.openxmlformats.org/officeDocument/2006/relationships/image" Target="../media/image25.png"/><Relationship Id="rId16" Type="http://schemas.openxmlformats.org/officeDocument/2006/relationships/image" Target="../media/image24.png"/><Relationship Id="rId15" Type="http://schemas.openxmlformats.org/officeDocument/2006/relationships/image" Target="../media/image23.png"/><Relationship Id="rId14" Type="http://schemas.openxmlformats.org/officeDocument/2006/relationships/image" Target="../media/image22.png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image" Target="../media/image21.svg"/><Relationship Id="rId10" Type="http://schemas.openxmlformats.org/officeDocument/2006/relationships/image" Target="../media/image20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0.xml"/><Relationship Id="rId3" Type="http://schemas.openxmlformats.org/officeDocument/2006/relationships/image" Target="../media/image28.sv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91.xml"/><Relationship Id="rId7" Type="http://schemas.openxmlformats.org/officeDocument/2006/relationships/image" Target="../media/image28.svg"/><Relationship Id="rId6" Type="http://schemas.openxmlformats.org/officeDocument/2006/relationships/image" Target="../media/image2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2.xml"/><Relationship Id="rId3" Type="http://schemas.openxmlformats.org/officeDocument/2006/relationships/image" Target="../media/image13.sv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2.png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svg"/><Relationship Id="rId8" Type="http://schemas.openxmlformats.org/officeDocument/2006/relationships/image" Target="../media/image37.png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04.xml"/><Relationship Id="rId15" Type="http://schemas.openxmlformats.org/officeDocument/2006/relationships/image" Target="../media/image13.svg"/><Relationship Id="rId14" Type="http://schemas.openxmlformats.org/officeDocument/2006/relationships/image" Target="../media/image2.png"/><Relationship Id="rId13" Type="http://schemas.openxmlformats.org/officeDocument/2006/relationships/image" Target="../media/image42.svg"/><Relationship Id="rId12" Type="http://schemas.openxmlformats.org/officeDocument/2006/relationships/image" Target="../media/image41.png"/><Relationship Id="rId11" Type="http://schemas.openxmlformats.org/officeDocument/2006/relationships/image" Target="../media/image40.svg"/><Relationship Id="rId10" Type="http://schemas.openxmlformats.org/officeDocument/2006/relationships/image" Target="../media/image39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werimage 19 拷贝"/>
          <p:cNvPicPr>
            <a:picLocks noChangeAspect="1"/>
          </p:cNvPicPr>
          <p:nvPr/>
        </p:nvPicPr>
        <p:blipFill>
          <a:blip r:embed="rId1"/>
          <a:srcRect l="15417" r="21079"/>
          <a:stretch>
            <a:fillRect/>
          </a:stretch>
        </p:blipFill>
        <p:spPr>
          <a:xfrm>
            <a:off x="199390" y="0"/>
            <a:ext cx="11992610" cy="685355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 rot="10800000">
            <a:off x="0" y="0"/>
            <a:ext cx="12192000" cy="6852920"/>
          </a:xfrm>
          <a:prstGeom prst="rect">
            <a:avLst/>
          </a:prstGeom>
          <a:gradFill>
            <a:gsLst>
              <a:gs pos="0">
                <a:srgbClr val="002060">
                  <a:alpha val="100000"/>
                </a:srgbClr>
              </a:gs>
              <a:gs pos="54000">
                <a:srgbClr val="002060">
                  <a:alpha val="67000"/>
                </a:srgbClr>
              </a:gs>
              <a:gs pos="45000">
                <a:srgbClr val="002060"/>
              </a:gs>
              <a:gs pos="83000">
                <a:srgbClr val="002060">
                  <a:alpha val="30000"/>
                </a:srgbClr>
              </a:gs>
              <a:gs pos="67000">
                <a:srgbClr val="002060">
                  <a:alpha val="10000"/>
                </a:srgbClr>
              </a:gs>
              <a:gs pos="100000">
                <a:srgbClr val="002060">
                  <a:alpha val="80000"/>
                </a:srgb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818515" y="1887855"/>
            <a:ext cx="14551025" cy="10845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000" i="0" u="none" strike="noStrike">
                <a:solidFill>
                  <a:srgbClr val="FFFFFF"/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鲁南超算中心项目概况汇报</a:t>
            </a:r>
            <a:endParaRPr lang="en-US" sz="5000" i="0" u="none" strike="noStrike">
              <a:solidFill>
                <a:srgbClr val="FFFFFF"/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</p:txBody>
      </p:sp>
      <p:sp>
        <p:nvSpPr>
          <p:cNvPr id="19" name="AutoShape 7"/>
          <p:cNvSpPr/>
          <p:nvPr/>
        </p:nvSpPr>
        <p:spPr>
          <a:xfrm>
            <a:off x="871716" y="2972415"/>
            <a:ext cx="11592699" cy="5269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0" i="0" u="none" strike="noStrike" spc="2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国产化智算枢纽 赋能区域数字经济发展</a:t>
            </a:r>
            <a:endParaRPr lang="en-US" sz="2800" b="0" i="0" u="none" strike="noStrike" spc="20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  <p:pic>
        <p:nvPicPr>
          <p:cNvPr id="6" name="图片 5" descr="RGB鲁南 logo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  <p:sp>
        <p:nvSpPr>
          <p:cNvPr id="22" name="AutoShape 7"/>
          <p:cNvSpPr/>
          <p:nvPr/>
        </p:nvSpPr>
        <p:spPr>
          <a:xfrm>
            <a:off x="887095" y="4180840"/>
            <a:ext cx="11592560" cy="10839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0" i="0" u="none" strike="noStrike" spc="2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汇报人</a:t>
            </a:r>
            <a:r>
              <a:rPr lang="en-US" altLang="zh-CN" sz="2000" b="0" i="0" u="none" strike="noStrike" spc="2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：</a:t>
            </a:r>
            <a:r>
              <a:rPr lang="zh-CN" altLang="en-US" sz="2000" b="0" i="0" u="none" strike="noStrike" spc="2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崔海东</a:t>
            </a:r>
            <a:endParaRPr lang="zh-CN" altLang="en-US" sz="2000" b="0" i="0" u="none" strike="noStrike" spc="20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000" b="0" i="0" u="none" strike="noStrike" spc="2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汇报单位</a:t>
            </a:r>
            <a:r>
              <a:rPr lang="en-US" altLang="zh-CN" sz="2000" b="0" i="0" u="none" strike="noStrike" spc="2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：</a:t>
            </a:r>
            <a:r>
              <a:rPr lang="zh-CN" altLang="en-US" sz="2000" b="0" i="0" u="none" strike="noStrike" spc="2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山东中汇世联科技</a:t>
            </a:r>
            <a:r>
              <a:rPr lang="zh-CN" altLang="en-US" sz="2000" b="0" i="0" u="none" strike="noStrike" spc="2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有限公司</a:t>
            </a:r>
            <a:endParaRPr lang="zh-CN" altLang="en-US" sz="2000" b="0" i="0" u="none" strike="noStrike" spc="20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/>
          <p:cNvSpPr txBox="1"/>
          <p:nvPr/>
        </p:nvSpPr>
        <p:spPr>
          <a:xfrm>
            <a:off x="-258773" y="1582843"/>
            <a:ext cx="5082117" cy="3811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rgbClr val="4561FF"/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01</a:t>
            </a:r>
            <a:endParaRPr lang="en-US" altLang="zh-CN" sz="20000">
              <a:solidFill>
                <a:srgbClr val="4561FF"/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897630" y="2562860"/>
            <a:ext cx="5330825" cy="988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50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Part01 </a:t>
            </a:r>
            <a:r>
              <a:rPr lang="zh-CN" altLang="en-US" sz="50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项目概况</a:t>
            </a:r>
            <a:endParaRPr lang="zh-CN" altLang="en-US" sz="5000" spc="200">
              <a:solidFill>
                <a:schemeClr val="bg1"/>
              </a:solidFill>
              <a:uFillTx/>
              <a:latin typeface="微软雅黑" panose="020B0402040204020203" charset="-122"/>
              <a:ea typeface="微软雅黑" panose="020B0402040204020203" charset="-122"/>
              <a:cs typeface="Arial Black" panose="020B0A040201020202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-205846" y="-1664758"/>
            <a:ext cx="5082117" cy="3430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chemeClr val="accent1">
                    <a:lumMod val="75000"/>
                    <a:alpha val="40000"/>
                  </a:schemeClr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00</a:t>
            </a:r>
            <a:endParaRPr lang="en-US" altLang="zh-CN" sz="20000">
              <a:solidFill>
                <a:schemeClr val="accent1">
                  <a:lumMod val="75000"/>
                  <a:alpha val="40000"/>
                </a:schemeClr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205846" y="5007822"/>
            <a:ext cx="5082117" cy="3430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chemeClr val="accent1">
                    <a:lumMod val="75000"/>
                    <a:alpha val="40000"/>
                  </a:schemeClr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02</a:t>
            </a:r>
            <a:endParaRPr lang="en-US" altLang="zh-CN" sz="20000">
              <a:solidFill>
                <a:schemeClr val="accent1">
                  <a:lumMod val="75000"/>
                  <a:alpha val="40000"/>
                </a:schemeClr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6" name="矩形 45"/>
          <p:cNvSpPr/>
          <p:nvPr userDrawn="1"/>
        </p:nvSpPr>
        <p:spPr>
          <a:xfrm>
            <a:off x="4010889" y="3553844"/>
            <a:ext cx="95250" cy="95250"/>
          </a:xfrm>
          <a:prstGeom prst="rect">
            <a:avLst/>
          </a:prstGeom>
          <a:solidFill>
            <a:srgbClr val="4573FF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4561FF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cxnSp>
        <p:nvCxnSpPr>
          <p:cNvPr id="47" name="直接连接符 46"/>
          <p:cNvCxnSpPr/>
          <p:nvPr userDrawn="1"/>
        </p:nvCxnSpPr>
        <p:spPr>
          <a:xfrm>
            <a:off x="4106148" y="3601455"/>
            <a:ext cx="4681855" cy="0"/>
          </a:xfrm>
          <a:prstGeom prst="line">
            <a:avLst/>
          </a:prstGeom>
          <a:ln w="12700" cap="flat" cmpd="sng" algn="ctr">
            <a:solidFill>
              <a:srgbClr val="4561FF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 descr="RGB鲁南 logo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层 2076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4540" y="1837055"/>
            <a:ext cx="9362440" cy="50209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rot="10800000"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02060">
                  <a:alpha val="100000"/>
                </a:srgbClr>
              </a:gs>
              <a:gs pos="41000">
                <a:srgbClr val="002060">
                  <a:alpha val="100000"/>
                </a:srgbClr>
              </a:gs>
              <a:gs pos="21000">
                <a:srgbClr val="002060">
                  <a:alpha val="0"/>
                </a:srgbClr>
              </a:gs>
              <a:gs pos="0">
                <a:srgbClr val="002060">
                  <a:alpha val="70000"/>
                </a:srgbClr>
              </a:gs>
            </a:gsLst>
            <a:lin ang="103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9905" y="27400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000" spc="100">
                <a:solidFill>
                  <a:schemeClr val="accent1">
                    <a:lumMod val="40000"/>
                    <a:lumOff val="60000"/>
                  </a:schemeClr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Part01</a:t>
            </a:r>
            <a:r>
              <a:rPr lang="en-US" altLang="zh-CN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  </a:t>
            </a:r>
            <a:r>
              <a:rPr lang="zh-CN" altLang="en-US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项目概况</a:t>
            </a:r>
            <a:endParaRPr lang="zh-CN" altLang="en-US" sz="200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7350" y="345440"/>
            <a:ext cx="72000" cy="252000"/>
          </a:xfrm>
          <a:prstGeom prst="rect">
            <a:avLst/>
          </a:prstGeom>
          <a:solidFill>
            <a:srgbClr val="637C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</p:txBody>
      </p:sp>
      <p:pic>
        <p:nvPicPr>
          <p:cNvPr id="6" name="图片 5" descr="RGB鲁南 logo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586605" y="5778500"/>
            <a:ext cx="7306310" cy="855345"/>
          </a:xfrm>
          <a:prstGeom prst="roundRect">
            <a:avLst>
              <a:gd name="adj" fmla="val 10962"/>
            </a:avLst>
          </a:prstGeom>
          <a:solidFill>
            <a:schemeClr val="accent1">
              <a:lumMod val="75000"/>
              <a:alpha val="57000"/>
            </a:schemeClr>
          </a:soli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p>
            <a:pPr indent="0" algn="ctr">
              <a:buFont typeface="Arial" panose="020B0604020202090204"/>
              <a:buNone/>
            </a:pPr>
            <a:endParaRPr lang="zh-CN" altLang="en-US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00300" y="1193800"/>
            <a:ext cx="9492615" cy="899795"/>
          </a:xfrm>
          <a:prstGeom prst="roundRect">
            <a:avLst>
              <a:gd name="adj" fmla="val 10962"/>
            </a:avLst>
          </a:prstGeom>
          <a:solidFill>
            <a:schemeClr val="accent1">
              <a:lumMod val="75000"/>
              <a:alpha val="57000"/>
            </a:schemeClr>
          </a:soli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p>
            <a:pPr indent="0" algn="ctr">
              <a:buFont typeface="Arial" panose="020B0604020202090204"/>
              <a:buNone/>
            </a:pPr>
            <a:endParaRPr lang="zh-CN" altLang="en-US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pic>
        <p:nvPicPr>
          <p:cNvPr id="16" name="图片 15" descr="0124er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2880" y="1231265"/>
            <a:ext cx="1028700" cy="86614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935095" y="1438275"/>
            <a:ext cx="10369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项目总投资</a:t>
            </a:r>
            <a:r>
              <a:rPr lang="en-US" altLang="zh-CN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6.2</a:t>
            </a:r>
            <a:r>
              <a:rPr lang="zh-CN" altLang="en-US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亿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元</a:t>
            </a:r>
            <a:r>
              <a:rPr lang="en-US" altLang="zh-CN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，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以</a:t>
            </a:r>
            <a:r>
              <a:rPr lang="zh-CN" altLang="en-US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国产海光处理器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为核心，打造</a:t>
            </a:r>
            <a:r>
              <a:rPr lang="zh-CN" altLang="en-US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全国产化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智算中心</a:t>
            </a:r>
            <a:r>
              <a:rPr lang="en-US" altLang="zh-CN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。</a:t>
            </a:r>
            <a:endParaRPr lang="en-US" altLang="zh-CN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57550" y="2284095"/>
            <a:ext cx="8634730" cy="899795"/>
          </a:xfrm>
          <a:prstGeom prst="roundRect">
            <a:avLst>
              <a:gd name="adj" fmla="val 10962"/>
            </a:avLst>
          </a:prstGeom>
          <a:solidFill>
            <a:schemeClr val="accent1">
              <a:lumMod val="75000"/>
              <a:alpha val="57000"/>
            </a:schemeClr>
          </a:soli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p>
            <a:pPr indent="0" algn="ctr">
              <a:buFont typeface="Arial" panose="020B0604020202090204"/>
              <a:buNone/>
            </a:pPr>
            <a:endParaRPr lang="zh-CN" altLang="en-US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pic>
        <p:nvPicPr>
          <p:cNvPr id="21" name="图片 20" descr="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0915" y="2332990"/>
            <a:ext cx="1142365" cy="85534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965065" y="2475865"/>
            <a:ext cx="10369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项目用地</a:t>
            </a:r>
            <a:r>
              <a:rPr lang="en-US" altLang="zh-CN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24</a:t>
            </a:r>
            <a:r>
              <a:rPr lang="zh-CN" altLang="en-US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亩</a:t>
            </a:r>
            <a:r>
              <a:rPr lang="en-US" altLang="zh-CN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，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建筑面积约</a:t>
            </a:r>
            <a:r>
              <a:rPr lang="en-US" altLang="zh-CN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24256.43</a:t>
            </a:r>
            <a:r>
              <a:rPr lang="zh-CN" altLang="en-US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㎡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，分为</a:t>
            </a:r>
            <a:r>
              <a:rPr lang="zh-CN" altLang="en-US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综合楼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和</a:t>
            </a:r>
            <a:r>
              <a:rPr lang="zh-CN" altLang="en-US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机房楼</a:t>
            </a:r>
            <a:r>
              <a:rPr lang="en-US" altLang="zh-CN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。</a:t>
            </a:r>
            <a:endParaRPr lang="en-US" altLang="zh-CN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33240" y="4480560"/>
            <a:ext cx="7559040" cy="1144270"/>
          </a:xfrm>
          <a:prstGeom prst="roundRect">
            <a:avLst>
              <a:gd name="adj" fmla="val 10962"/>
            </a:avLst>
          </a:prstGeom>
          <a:solidFill>
            <a:schemeClr val="accent1">
              <a:lumMod val="75000"/>
              <a:alpha val="57000"/>
            </a:schemeClr>
          </a:soli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p>
            <a:pPr indent="0" algn="ctr">
              <a:buFont typeface="Arial" panose="020B0604020202090204"/>
              <a:buNone/>
            </a:pPr>
            <a:endParaRPr lang="zh-CN" altLang="en-US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930900" y="4653915"/>
            <a:ext cx="113322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00000"/>
              </a:lnSpc>
              <a:buFont typeface="Arial" panose="020B0604020202090204"/>
              <a:buNone/>
            </a:pP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总功率</a:t>
            </a:r>
            <a:r>
              <a:rPr lang="en-US" altLang="zh-CN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7MW</a:t>
            </a:r>
            <a:r>
              <a:rPr lang="en-US" altLang="zh-CN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，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建设</a:t>
            </a:r>
            <a:r>
              <a:rPr lang="en-US" altLang="zh-CN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350</a:t>
            </a:r>
            <a:r>
              <a:rPr lang="zh-CN" altLang="en-US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台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机柜</a:t>
            </a:r>
            <a:r>
              <a:rPr lang="zh-CN" altLang="en-US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（</a:t>
            </a:r>
            <a:r>
              <a:rPr lang="en-US" altLang="zh-CN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24kW 200</a:t>
            </a:r>
            <a:r>
              <a:rPr lang="zh-CN" altLang="en-US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个、</a:t>
            </a:r>
            <a:r>
              <a:rPr lang="en-US" altLang="zh-CN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12kW 150</a:t>
            </a:r>
            <a:r>
              <a:rPr lang="zh-CN" altLang="en-US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个</a:t>
            </a:r>
            <a:r>
              <a:rPr lang="en-US" altLang="zh-CN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）</a:t>
            </a:r>
            <a:endParaRPr lang="en-US" altLang="zh-CN" sz="1400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l">
              <a:lnSpc>
                <a:spcPct val="100000"/>
              </a:lnSpc>
              <a:buFont typeface="Arial" panose="020B0604020202090204"/>
              <a:buNone/>
            </a:pPr>
            <a:r>
              <a:rPr lang="en-US" altLang="zh-CN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2640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个标准机柜</a:t>
            </a:r>
            <a:r>
              <a:rPr lang="en-US" altLang="zh-CN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（2.5KW），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算力</a:t>
            </a:r>
            <a:r>
              <a:rPr lang="en-US" altLang="zh-CN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2000PFlops&amp;FP16 </a:t>
            </a:r>
            <a:endParaRPr lang="en-US" altLang="zh-CN" sz="200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169660" y="6013450"/>
            <a:ext cx="9491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Font typeface="Arial" panose="020B0604020202090204"/>
              <a:buNone/>
            </a:pPr>
            <a:r>
              <a:rPr lang="zh-CN" altLang="en-US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核心目标</a:t>
            </a:r>
            <a:r>
              <a:rPr lang="en-US" altLang="zh-CN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：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立足鲁南，辐射山东，链接京津冀</a:t>
            </a:r>
            <a:r>
              <a:rPr lang="en-US" altLang="zh-CN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、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长三角</a:t>
            </a:r>
            <a:endParaRPr lang="zh-CN" altLang="en-US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pic>
        <p:nvPicPr>
          <p:cNvPr id="31" name="图片 30" descr="0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9620" y="4602480"/>
            <a:ext cx="1250315" cy="9194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51885" y="3390265"/>
            <a:ext cx="8240395" cy="899795"/>
          </a:xfrm>
          <a:prstGeom prst="roundRect">
            <a:avLst>
              <a:gd name="adj" fmla="val 10962"/>
            </a:avLst>
          </a:prstGeom>
          <a:solidFill>
            <a:schemeClr val="accent1">
              <a:lumMod val="75000"/>
              <a:alpha val="57000"/>
            </a:schemeClr>
          </a:soli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p>
            <a:pPr indent="0" algn="ctr">
              <a:buFont typeface="Arial" panose="020B0604020202090204"/>
              <a:buNone/>
            </a:pPr>
            <a:endParaRPr lang="zh-CN" altLang="en-US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70500" y="3552190"/>
            <a:ext cx="12245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Font typeface="Arial" panose="020B0604020202090204"/>
              <a:buNone/>
            </a:pP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按照国内最高等级</a:t>
            </a:r>
            <a:r>
              <a:rPr lang="en-US" altLang="zh-CN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A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类机房、国际</a:t>
            </a:r>
            <a:r>
              <a:rPr lang="en-US" altLang="zh-CN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T3+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高等级机房标准来建设，</a:t>
            </a:r>
            <a:endParaRPr lang="zh-CN" altLang="en-US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l">
              <a:buFont typeface="Arial" panose="020B0604020202090204"/>
              <a:buNone/>
            </a:pP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可靠性、安全性都是行业一流水平。</a:t>
            </a:r>
            <a:endParaRPr lang="zh-CN" altLang="en-US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pic>
        <p:nvPicPr>
          <p:cNvPr id="10" name="图片 9" descr="0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5095" y="3409315"/>
            <a:ext cx="1141730" cy="850265"/>
          </a:xfrm>
          <a:prstGeom prst="rect">
            <a:avLst/>
          </a:prstGeom>
        </p:spPr>
      </p:pic>
      <p:pic>
        <p:nvPicPr>
          <p:cNvPr id="11" name="图片 10" descr="0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0275" y="5834380"/>
            <a:ext cx="1089660" cy="81089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/>
          <p:cNvSpPr txBox="1"/>
          <p:nvPr/>
        </p:nvSpPr>
        <p:spPr>
          <a:xfrm>
            <a:off x="-258773" y="1582843"/>
            <a:ext cx="5082117" cy="3811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rgbClr val="4561FF"/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02</a:t>
            </a:r>
            <a:endParaRPr lang="en-US" altLang="zh-CN" sz="20000">
              <a:solidFill>
                <a:srgbClr val="4561FF"/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897630" y="2562860"/>
            <a:ext cx="5330825" cy="988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50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Part02 </a:t>
            </a:r>
            <a:r>
              <a:rPr lang="zh-CN" altLang="en-US" sz="50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核心优势</a:t>
            </a:r>
            <a:endParaRPr lang="zh-CN" altLang="en-US" sz="5000" spc="200">
              <a:solidFill>
                <a:schemeClr val="bg1"/>
              </a:solidFill>
              <a:uFillTx/>
              <a:latin typeface="微软雅黑" panose="020B0402040204020203" charset="-122"/>
              <a:ea typeface="微软雅黑" panose="020B0402040204020203" charset="-122"/>
              <a:cs typeface="Arial Black" panose="020B0A040201020202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-205846" y="-1664758"/>
            <a:ext cx="5082117" cy="3430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chemeClr val="accent1">
                    <a:lumMod val="75000"/>
                    <a:alpha val="40000"/>
                  </a:schemeClr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01</a:t>
            </a:r>
            <a:endParaRPr lang="en-US" altLang="zh-CN" sz="20000">
              <a:solidFill>
                <a:schemeClr val="accent1">
                  <a:lumMod val="75000"/>
                  <a:alpha val="40000"/>
                </a:schemeClr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205846" y="5148792"/>
            <a:ext cx="5082117" cy="3430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chemeClr val="accent1">
                    <a:lumMod val="75000"/>
                    <a:alpha val="40000"/>
                  </a:schemeClr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03</a:t>
            </a:r>
            <a:endParaRPr lang="en-US" altLang="zh-CN" sz="20000">
              <a:solidFill>
                <a:schemeClr val="accent1">
                  <a:lumMod val="75000"/>
                  <a:alpha val="40000"/>
                </a:schemeClr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6" name="矩形 45"/>
          <p:cNvSpPr/>
          <p:nvPr userDrawn="1"/>
        </p:nvSpPr>
        <p:spPr>
          <a:xfrm>
            <a:off x="4010889" y="3553844"/>
            <a:ext cx="95250" cy="95250"/>
          </a:xfrm>
          <a:prstGeom prst="rect">
            <a:avLst/>
          </a:prstGeom>
          <a:solidFill>
            <a:srgbClr val="4573FF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4561FF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cxnSp>
        <p:nvCxnSpPr>
          <p:cNvPr id="47" name="直接连接符 46"/>
          <p:cNvCxnSpPr/>
          <p:nvPr userDrawn="1"/>
        </p:nvCxnSpPr>
        <p:spPr>
          <a:xfrm>
            <a:off x="4106148" y="3601455"/>
            <a:ext cx="4681855" cy="0"/>
          </a:xfrm>
          <a:prstGeom prst="line">
            <a:avLst/>
          </a:prstGeom>
          <a:ln w="12700" cap="flat" cmpd="sng" algn="ctr">
            <a:solidFill>
              <a:srgbClr val="4561FF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 descr="RGB鲁南 logo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9905" y="27400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000" spc="100">
                <a:solidFill>
                  <a:schemeClr val="accent1">
                    <a:lumMod val="40000"/>
                    <a:lumOff val="60000"/>
                  </a:schemeClr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Part02</a:t>
            </a:r>
            <a:r>
              <a:rPr lang="en-US" altLang="zh-CN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  </a:t>
            </a:r>
            <a:r>
              <a:rPr lang="zh-CN" altLang="en-US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核心优势</a:t>
            </a:r>
            <a:endParaRPr lang="zh-CN" altLang="en-US" sz="200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7350" y="345440"/>
            <a:ext cx="72000" cy="252000"/>
          </a:xfrm>
          <a:prstGeom prst="rect">
            <a:avLst/>
          </a:prstGeom>
          <a:solidFill>
            <a:srgbClr val="637C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12915" y="1434465"/>
            <a:ext cx="5080000" cy="3989070"/>
          </a:xfrm>
          <a:prstGeom prst="roundRect">
            <a:avLst>
              <a:gd name="adj" fmla="val 4618"/>
            </a:avLst>
          </a:prstGeom>
          <a:gradFill>
            <a:gsLst>
              <a:gs pos="0">
                <a:srgbClr val="102B68">
                  <a:alpha val="0"/>
                </a:srgbClr>
              </a:gs>
              <a:gs pos="100000">
                <a:srgbClr val="3752B1"/>
              </a:gs>
            </a:gsLst>
            <a:lin ang="2700000" scaled="0"/>
          </a:gra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252095" rIns="431800" anchor="ctr" anchorCtr="0">
            <a:noAutofit/>
          </a:bodyPr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r>
              <a:rPr lang="zh-CN" altLang="en-US" sz="320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区位优势</a:t>
            </a:r>
            <a:endParaRPr lang="zh-CN" altLang="en-US" sz="32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zh-CN" altLang="en-US" sz="1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r>
              <a:rPr lang="zh-CN" altLang="en-US" sz="200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北联京津冀，南接长三角，骨干专线双向时延稳定</a:t>
            </a:r>
            <a:r>
              <a:rPr lang="en-US" altLang="zh-CN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5–8ms</a:t>
            </a:r>
            <a:r>
              <a:rPr lang="zh-CN" altLang="en-US" sz="200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，核心节点可达</a:t>
            </a:r>
            <a:r>
              <a:rPr lang="en-US" altLang="zh-CN" sz="20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5ms</a:t>
            </a:r>
            <a:r>
              <a:rPr lang="zh-CN" altLang="en-US" sz="200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内，高效承接两大枢纽算力互济与低时延业务需求。</a:t>
            </a:r>
            <a:endParaRPr lang="zh-CN" altLang="en-US" sz="2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zh-CN" altLang="en-US" sz="2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zh-CN" altLang="en-US" sz="2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marL="0" indent="0" algn="l">
              <a:lnSpc>
                <a:spcPct val="170000"/>
              </a:lnSpc>
              <a:buFont typeface="Arial" panose="020B0604020202090204" pitchFamily="34" charset="0"/>
              <a:buNone/>
            </a:pPr>
            <a:endParaRPr lang="en-US" altLang="zh-CN" sz="16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13028" y="3989470"/>
            <a:ext cx="3279775" cy="863600"/>
          </a:xfrm>
          <a:prstGeom prst="roundRect">
            <a:avLst/>
          </a:prstGeom>
          <a:solidFill>
            <a:schemeClr val="accent1">
              <a:lumMod val="75000"/>
              <a:alpha val="57000"/>
            </a:schemeClr>
          </a:soli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p>
            <a:pPr indent="0" algn="ctr">
              <a:buFont typeface="Arial" panose="020B0604020202090204"/>
              <a:buNone/>
            </a:pPr>
            <a:r>
              <a:rPr lang="en-US" altLang="zh-CN" sz="28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5</a:t>
            </a:r>
            <a:r>
              <a:rPr lang="zh-CN" altLang="en-US" sz="28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毫秒</a:t>
            </a:r>
            <a:r>
              <a:rPr lang="zh-CN" altLang="en-US" sz="22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算力</a:t>
            </a:r>
            <a:r>
              <a:rPr lang="zh-CN" altLang="en-US" sz="22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延时圈</a:t>
            </a:r>
            <a:endParaRPr lang="zh-CN" altLang="en-US" sz="2200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pic>
        <p:nvPicPr>
          <p:cNvPr id="5" name="图片 4" descr="RGB鲁南 logo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32355" y="-128270"/>
            <a:ext cx="8790305" cy="65836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宣传册0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9740" y="643255"/>
            <a:ext cx="7352030" cy="51269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09905" y="27400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000" spc="100">
                <a:solidFill>
                  <a:schemeClr val="accent1">
                    <a:lumMod val="40000"/>
                    <a:lumOff val="60000"/>
                  </a:schemeClr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Part02</a:t>
            </a:r>
            <a:r>
              <a:rPr lang="en-US" altLang="zh-CN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  </a:t>
            </a:r>
            <a:r>
              <a:rPr lang="zh-CN" altLang="en-US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核心优势</a:t>
            </a:r>
            <a:endParaRPr lang="zh-CN" altLang="en-US" sz="200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7350" y="345440"/>
            <a:ext cx="72000" cy="252000"/>
          </a:xfrm>
          <a:prstGeom prst="rect">
            <a:avLst/>
          </a:prstGeom>
          <a:solidFill>
            <a:srgbClr val="637C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</p:txBody>
      </p:sp>
      <p:pic>
        <p:nvPicPr>
          <p:cNvPr id="11" name="图片 10" descr="RGB鲁南 logo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509905" y="5669680"/>
            <a:ext cx="3279775" cy="863600"/>
          </a:xfrm>
          <a:prstGeom prst="roundRect">
            <a:avLst/>
          </a:prstGeom>
          <a:solidFill>
            <a:schemeClr val="accent1">
              <a:lumMod val="75000"/>
              <a:alpha val="57000"/>
            </a:schemeClr>
          </a:soli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p>
            <a:pPr indent="0" algn="ctr">
              <a:buFont typeface="Arial" panose="020B0604020202090204"/>
              <a:buNone/>
            </a:pPr>
            <a:r>
              <a:rPr lang="en-US" altLang="zh-CN" sz="28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3</a:t>
            </a:r>
            <a:r>
              <a:rPr lang="zh-CN" altLang="en-US" sz="2800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毫秒</a:t>
            </a:r>
            <a:r>
              <a:rPr lang="zh-CN" altLang="en-US" sz="22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算力</a:t>
            </a:r>
            <a:r>
              <a:rPr lang="zh-CN" altLang="en-US" sz="22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延时圈</a:t>
            </a:r>
            <a:endParaRPr lang="zh-CN" altLang="en-US" sz="2200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pic>
        <p:nvPicPr>
          <p:cNvPr id="25" name="图片 24" descr="RGB鲁南 logo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95200" y="518160"/>
            <a:ext cx="2679700" cy="516255"/>
          </a:xfrm>
          <a:prstGeom prst="rect">
            <a:avLst/>
          </a:prstGeom>
        </p:spPr>
      </p:pic>
      <p:sp>
        <p:nvSpPr>
          <p:cNvPr id="15" name="矩形: 圆角 53"/>
          <p:cNvSpPr/>
          <p:nvPr>
            <p:custDataLst>
              <p:tags r:id="rId6"/>
            </p:custDataLst>
          </p:nvPr>
        </p:nvSpPr>
        <p:spPr>
          <a:xfrm>
            <a:off x="5461635" y="1842135"/>
            <a:ext cx="9264015" cy="754380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102B68">
                  <a:alpha val="0"/>
                </a:srgbClr>
              </a:gs>
              <a:gs pos="0">
                <a:srgbClr val="3752B1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ysClr val="window" lastClr="FFFFFF"/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18" name="矩形: 圆角 53"/>
          <p:cNvSpPr/>
          <p:nvPr>
            <p:custDataLst>
              <p:tags r:id="rId7"/>
            </p:custDataLst>
          </p:nvPr>
        </p:nvSpPr>
        <p:spPr>
          <a:xfrm>
            <a:off x="5624195" y="1757045"/>
            <a:ext cx="9102090" cy="250825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102B68">
                  <a:alpha val="0"/>
                </a:srgbClr>
              </a:gs>
              <a:gs pos="0">
                <a:srgbClr val="5A9ED9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ysClr val="window" lastClr="FFFFFF"/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5687060" y="1544955"/>
            <a:ext cx="8637270" cy="768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spcAft>
                <a:spcPts val="800"/>
              </a:spcAft>
            </a:pPr>
            <a:r>
              <a:rPr lang="en-US" altLang="zh-CN" b="1" i="1" spc="100">
                <a:solidFill>
                  <a:srgbClr val="F2BA02">
                    <a:lumMod val="60000"/>
                    <a:lumOff val="40000"/>
                  </a:srgbClr>
                </a:solidFill>
                <a:effectLst>
                  <a:outerShdw blurRad="152400" dist="50800" dir="11400000" algn="ctr" rotWithShape="0">
                    <a:srgbClr val="102B68">
                      <a:alpha val="100000"/>
                    </a:srgbClr>
                  </a:outerShdw>
                </a:effectLst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1、</a:t>
            </a:r>
            <a:r>
              <a:rPr lang="zh-CN" altLang="en-US" b="1" i="1" spc="100">
                <a:solidFill>
                  <a:srgbClr val="F2BA02">
                    <a:lumMod val="60000"/>
                    <a:lumOff val="40000"/>
                  </a:srgbClr>
                </a:solidFill>
                <a:effectLst>
                  <a:outerShdw blurRad="152400" dist="50800" dir="11400000" algn="ctr" rotWithShape="0">
                    <a:srgbClr val="102B68">
                      <a:alpha val="100000"/>
                    </a:srgbClr>
                  </a:outerShdw>
                </a:effectLst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战略定位</a:t>
            </a:r>
            <a:endParaRPr lang="zh-CN" altLang="en-US" b="1" i="1" spc="100">
              <a:solidFill>
                <a:srgbClr val="F2BA02">
                  <a:lumMod val="60000"/>
                  <a:lumOff val="40000"/>
                </a:srgbClr>
              </a:solidFill>
              <a:effectLst>
                <a:outerShdw blurRad="152400" dist="50800" dir="11400000" algn="ctr" rotWithShape="0">
                  <a:srgbClr val="102B68">
                    <a:alpha val="100000"/>
                  </a:srgbClr>
                </a:outerShdw>
              </a:effectLst>
              <a:uFillTx/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  <a:p>
            <a:pPr indent="0" fontAlgn="auto">
              <a:lnSpc>
                <a:spcPct val="110000"/>
              </a:lnSpc>
              <a:spcAft>
                <a:spcPts val="800"/>
              </a:spcAft>
            </a:pPr>
            <a:r>
              <a:rPr lang="zh-CN" altLang="en-US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国家一级互联网骨干直联点（鲁南唯一），山东三大算力枢纽</a:t>
            </a:r>
            <a:endParaRPr lang="zh-CN" altLang="en-US" sz="1600" spc="100">
              <a:solidFill>
                <a:srgbClr val="44546A">
                  <a:lumMod val="25000"/>
                  <a:lumOff val="75000"/>
                </a:srgbClr>
              </a:solidFill>
              <a:effectLst/>
              <a:uFillTx/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30" name="矩形: 圆角 53"/>
          <p:cNvSpPr/>
          <p:nvPr>
            <p:custDataLst>
              <p:tags r:id="rId9"/>
            </p:custDataLst>
          </p:nvPr>
        </p:nvSpPr>
        <p:spPr>
          <a:xfrm>
            <a:off x="5461635" y="3166745"/>
            <a:ext cx="9264015" cy="754380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102B68">
                  <a:alpha val="0"/>
                </a:srgbClr>
              </a:gs>
              <a:gs pos="0">
                <a:srgbClr val="3752B1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ysClr val="window" lastClr="FFFFFF"/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1" name="矩形: 圆角 53"/>
          <p:cNvSpPr/>
          <p:nvPr>
            <p:custDataLst>
              <p:tags r:id="rId10"/>
            </p:custDataLst>
          </p:nvPr>
        </p:nvSpPr>
        <p:spPr>
          <a:xfrm>
            <a:off x="5624195" y="3081655"/>
            <a:ext cx="9102090" cy="250825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102B68">
                  <a:alpha val="0"/>
                </a:srgbClr>
              </a:gs>
              <a:gs pos="0">
                <a:srgbClr val="5A9ED9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ysClr val="window" lastClr="FFFFFF"/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1"/>
            </p:custDataLst>
          </p:nvPr>
        </p:nvSpPr>
        <p:spPr>
          <a:xfrm>
            <a:off x="5687060" y="2869565"/>
            <a:ext cx="8637270" cy="768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spcAft>
                <a:spcPts val="800"/>
              </a:spcAft>
            </a:pPr>
            <a:r>
              <a:rPr lang="en-US" altLang="zh-CN" b="1" i="1" spc="100">
                <a:solidFill>
                  <a:srgbClr val="F2BA02">
                    <a:lumMod val="60000"/>
                    <a:lumOff val="40000"/>
                  </a:srgbClr>
                </a:solidFill>
                <a:effectLst>
                  <a:outerShdw blurRad="152400" dist="50800" dir="11400000" algn="ctr" rotWithShape="0">
                    <a:srgbClr val="102B68">
                      <a:alpha val="100000"/>
                    </a:srgbClr>
                  </a:outerShdw>
                </a:effectLst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2、</a:t>
            </a:r>
            <a:r>
              <a:rPr lang="zh-CN" altLang="en-US" b="1" i="1" spc="100">
                <a:solidFill>
                  <a:srgbClr val="F2BA02">
                    <a:lumMod val="60000"/>
                    <a:lumOff val="40000"/>
                  </a:srgbClr>
                </a:solidFill>
                <a:effectLst>
                  <a:outerShdw blurRad="152400" dist="50800" dir="11400000" algn="ctr" rotWithShape="0">
                    <a:srgbClr val="102B68">
                      <a:alpha val="100000"/>
                    </a:srgbClr>
                  </a:outerShdw>
                </a:effectLst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低时延</a:t>
            </a:r>
            <a:endParaRPr lang="zh-CN" altLang="en-US" b="1" i="1" spc="100">
              <a:solidFill>
                <a:srgbClr val="F2BA02">
                  <a:lumMod val="60000"/>
                  <a:lumOff val="40000"/>
                </a:srgbClr>
              </a:solidFill>
              <a:effectLst>
                <a:outerShdw blurRad="152400" dist="50800" dir="11400000" algn="ctr" rotWithShape="0">
                  <a:srgbClr val="102B68">
                    <a:alpha val="100000"/>
                  </a:srgbClr>
                </a:outerShdw>
              </a:effectLst>
              <a:uFillTx/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  <a:p>
            <a:pPr indent="0" fontAlgn="auto">
              <a:lnSpc>
                <a:spcPct val="110000"/>
              </a:lnSpc>
              <a:spcAft>
                <a:spcPts val="800"/>
              </a:spcAft>
            </a:pPr>
            <a:r>
              <a:rPr lang="zh-CN" altLang="en-US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省内算力互通</a:t>
            </a:r>
            <a:r>
              <a:rPr lang="en-US" altLang="zh-CN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≤3ms</a:t>
            </a:r>
            <a:r>
              <a:rPr lang="zh-CN" altLang="en-US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，山东</a:t>
            </a:r>
            <a:r>
              <a:rPr lang="en-US" altLang="zh-CN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3</a:t>
            </a:r>
            <a:r>
              <a:rPr lang="zh-CN" altLang="en-US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毫秒算网闭环关键节点</a:t>
            </a:r>
            <a:endParaRPr lang="zh-CN" altLang="en-US" sz="1600" spc="100">
              <a:solidFill>
                <a:srgbClr val="44546A">
                  <a:lumMod val="25000"/>
                  <a:lumOff val="75000"/>
                </a:srgbClr>
              </a:solidFill>
              <a:effectLst/>
              <a:uFillTx/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34" name="矩形: 圆角 53"/>
          <p:cNvSpPr/>
          <p:nvPr>
            <p:custDataLst>
              <p:tags r:id="rId12"/>
            </p:custDataLst>
          </p:nvPr>
        </p:nvSpPr>
        <p:spPr>
          <a:xfrm>
            <a:off x="5461635" y="4491355"/>
            <a:ext cx="9264015" cy="754380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102B68">
                  <a:alpha val="0"/>
                </a:srgbClr>
              </a:gs>
              <a:gs pos="0">
                <a:srgbClr val="3752B1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ysClr val="window" lastClr="FFFFFF"/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5" name="矩形: 圆角 53"/>
          <p:cNvSpPr/>
          <p:nvPr>
            <p:custDataLst>
              <p:tags r:id="rId13"/>
            </p:custDataLst>
          </p:nvPr>
        </p:nvSpPr>
        <p:spPr>
          <a:xfrm>
            <a:off x="5624195" y="4406265"/>
            <a:ext cx="9102090" cy="250825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102B68">
                  <a:alpha val="0"/>
                </a:srgbClr>
              </a:gs>
              <a:gs pos="0">
                <a:srgbClr val="5A9ED9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ysClr val="window" lastClr="FFFFFF"/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5687060" y="4194175"/>
            <a:ext cx="8637270" cy="768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spcAft>
                <a:spcPts val="800"/>
              </a:spcAft>
            </a:pPr>
            <a:r>
              <a:rPr lang="en-US" altLang="zh-CN" b="1" i="1" spc="100">
                <a:solidFill>
                  <a:srgbClr val="F2BA02">
                    <a:lumMod val="60000"/>
                    <a:lumOff val="40000"/>
                  </a:srgbClr>
                </a:solidFill>
                <a:effectLst>
                  <a:outerShdw blurRad="152400" dist="50800" dir="11400000" algn="ctr" rotWithShape="0">
                    <a:srgbClr val="102B68">
                      <a:alpha val="100000"/>
                    </a:srgbClr>
                  </a:outerShdw>
                </a:effectLst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3、</a:t>
            </a:r>
            <a:r>
              <a:rPr lang="zh-CN" altLang="en-US" b="1" i="1" spc="100">
                <a:solidFill>
                  <a:srgbClr val="F2BA02">
                    <a:lumMod val="60000"/>
                    <a:lumOff val="40000"/>
                  </a:srgbClr>
                </a:solidFill>
                <a:effectLst>
                  <a:outerShdw blurRad="152400" dist="50800" dir="11400000" algn="ctr" rotWithShape="0">
                    <a:srgbClr val="102B68">
                      <a:alpha val="100000"/>
                    </a:srgbClr>
                  </a:outerShdw>
                </a:effectLst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高带宽</a:t>
            </a:r>
            <a:endParaRPr lang="zh-CN" altLang="en-US" b="1" i="1" spc="100">
              <a:solidFill>
                <a:srgbClr val="F2BA02">
                  <a:lumMod val="60000"/>
                  <a:lumOff val="40000"/>
                </a:srgbClr>
              </a:solidFill>
              <a:effectLst>
                <a:outerShdw blurRad="152400" dist="50800" dir="11400000" algn="ctr" rotWithShape="0">
                  <a:srgbClr val="102B68">
                    <a:alpha val="100000"/>
                  </a:srgbClr>
                </a:outerShdw>
              </a:effectLst>
              <a:uFillTx/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  <a:p>
            <a:pPr indent="0" fontAlgn="auto">
              <a:lnSpc>
                <a:spcPct val="110000"/>
              </a:lnSpc>
              <a:spcAft>
                <a:spcPts val="800"/>
              </a:spcAft>
            </a:pPr>
            <a:r>
              <a:rPr lang="zh-CN" altLang="en-US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三大运营商共建，</a:t>
            </a:r>
            <a:r>
              <a:rPr lang="en-US" altLang="zh-CN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5000G+</a:t>
            </a:r>
            <a:r>
              <a:rPr lang="zh-CN" altLang="en-US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带宽，直连</a:t>
            </a:r>
            <a:r>
              <a:rPr lang="en-US" altLang="zh-CN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20+</a:t>
            </a:r>
            <a:r>
              <a:rPr lang="zh-CN" altLang="en-US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核心城市</a:t>
            </a:r>
            <a:endParaRPr lang="zh-CN" altLang="en-US" sz="1600" spc="100">
              <a:solidFill>
                <a:srgbClr val="44546A">
                  <a:lumMod val="25000"/>
                  <a:lumOff val="75000"/>
                </a:srgbClr>
              </a:solidFill>
              <a:effectLst/>
              <a:uFillTx/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38" name="矩形: 圆角 53"/>
          <p:cNvSpPr/>
          <p:nvPr>
            <p:custDataLst>
              <p:tags r:id="rId15"/>
            </p:custDataLst>
          </p:nvPr>
        </p:nvSpPr>
        <p:spPr>
          <a:xfrm>
            <a:off x="5461635" y="5815965"/>
            <a:ext cx="9264015" cy="754380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102B68">
                  <a:alpha val="0"/>
                </a:srgbClr>
              </a:gs>
              <a:gs pos="0">
                <a:srgbClr val="3752B1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ysClr val="window" lastClr="FFFFFF"/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9" name="矩形: 圆角 53"/>
          <p:cNvSpPr/>
          <p:nvPr>
            <p:custDataLst>
              <p:tags r:id="rId16"/>
            </p:custDataLst>
          </p:nvPr>
        </p:nvSpPr>
        <p:spPr>
          <a:xfrm>
            <a:off x="5624195" y="5730875"/>
            <a:ext cx="9102090" cy="250825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102B68">
                  <a:alpha val="0"/>
                </a:srgbClr>
              </a:gs>
              <a:gs pos="0">
                <a:srgbClr val="5A9ED9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ysClr val="window" lastClr="FFFFFF"/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7"/>
            </p:custDataLst>
          </p:nvPr>
        </p:nvSpPr>
        <p:spPr>
          <a:xfrm>
            <a:off x="5687060" y="5518785"/>
            <a:ext cx="8637270" cy="768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spcAft>
                <a:spcPts val="800"/>
              </a:spcAft>
            </a:pPr>
            <a:r>
              <a:rPr lang="en-US" altLang="zh-CN" b="1" i="1" spc="100">
                <a:solidFill>
                  <a:srgbClr val="F2BA02">
                    <a:lumMod val="60000"/>
                    <a:lumOff val="40000"/>
                  </a:srgbClr>
                </a:solidFill>
                <a:effectLst>
                  <a:outerShdw blurRad="152400" dist="50800" dir="11400000" algn="ctr" rotWithShape="0">
                    <a:srgbClr val="102B68">
                      <a:alpha val="100000"/>
                    </a:srgbClr>
                  </a:outerShdw>
                </a:effectLst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4、</a:t>
            </a:r>
            <a:r>
              <a:rPr lang="zh-CN" altLang="en-US" b="1" i="1" spc="100">
                <a:solidFill>
                  <a:srgbClr val="F2BA02">
                    <a:lumMod val="60000"/>
                    <a:lumOff val="40000"/>
                  </a:srgbClr>
                </a:solidFill>
                <a:effectLst>
                  <a:outerShdw blurRad="152400" dist="50800" dir="11400000" algn="ctr" rotWithShape="0">
                    <a:srgbClr val="102B68">
                      <a:alpha val="100000"/>
                    </a:srgbClr>
                  </a:outerShdw>
                </a:effectLst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核心地位</a:t>
            </a:r>
            <a:endParaRPr lang="zh-CN" altLang="en-US" b="1" i="1" spc="100">
              <a:solidFill>
                <a:srgbClr val="F2BA02">
                  <a:lumMod val="60000"/>
                  <a:lumOff val="40000"/>
                </a:srgbClr>
              </a:solidFill>
              <a:effectLst>
                <a:outerShdw blurRad="152400" dist="50800" dir="11400000" algn="ctr" rotWithShape="0">
                  <a:srgbClr val="102B68">
                    <a:alpha val="100000"/>
                  </a:srgbClr>
                </a:outerShdw>
              </a:effectLst>
              <a:uFillTx/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  <a:p>
            <a:pPr indent="0" fontAlgn="auto">
              <a:lnSpc>
                <a:spcPct val="110000"/>
              </a:lnSpc>
              <a:spcAft>
                <a:spcPts val="800"/>
              </a:spcAft>
            </a:pPr>
            <a:r>
              <a:rPr lang="zh-CN" altLang="en-US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网络</a:t>
            </a:r>
            <a:r>
              <a:rPr lang="en-US" altLang="zh-CN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+</a:t>
            </a:r>
            <a:r>
              <a:rPr lang="zh-CN" altLang="en-US" sz="1600" spc="100">
                <a:solidFill>
                  <a:srgbClr val="44546A">
                    <a:lumMod val="25000"/>
                    <a:lumOff val="75000"/>
                  </a:srgbClr>
                </a:solidFill>
                <a:effectLst/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算力双核心，不可替代</a:t>
            </a:r>
            <a:endParaRPr lang="zh-CN" altLang="en-US" sz="1600" spc="100">
              <a:solidFill>
                <a:srgbClr val="44546A">
                  <a:lumMod val="25000"/>
                  <a:lumOff val="75000"/>
                </a:srgbClr>
              </a:solidFill>
              <a:effectLst/>
              <a:uFillTx/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461635" y="926465"/>
            <a:ext cx="6988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</a:rPr>
              <a:t>网络优势</a:t>
            </a:r>
            <a:endParaRPr lang="zh-CN" altLang="en-US" sz="2400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价布局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90620" y="274320"/>
            <a:ext cx="12900660" cy="725741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520055" y="3296285"/>
            <a:ext cx="6188710" cy="2856865"/>
          </a:xfrm>
          <a:prstGeom prst="roundRect">
            <a:avLst>
              <a:gd name="adj" fmla="val 4618"/>
            </a:avLst>
          </a:prstGeom>
          <a:gradFill>
            <a:gsLst>
              <a:gs pos="0">
                <a:srgbClr val="102B68">
                  <a:alpha val="0"/>
                </a:srgbClr>
              </a:gs>
              <a:gs pos="100000">
                <a:srgbClr val="3752B1"/>
              </a:gs>
            </a:gsLst>
            <a:lin ang="2700000" scaled="0"/>
          </a:gra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252095" rIns="431800" anchor="ctr" anchorCtr="0">
            <a:noAutofit/>
          </a:bodyPr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r>
              <a:rPr lang="zh-CN" altLang="en-US" sz="320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电价优势</a:t>
            </a:r>
            <a:endParaRPr lang="zh-CN" altLang="en-US" sz="2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zh-CN" altLang="en-US" sz="1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r>
              <a:rPr lang="zh-CN" altLang="en-US" sz="2000">
                <a:solidFill>
                  <a:srgbClr val="4472C4">
                    <a:lumMod val="20000"/>
                    <a:lumOff val="8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宋体" pitchFamily="2" charset="-122"/>
              </a:rPr>
              <a:t>通过用电力市场交易</a:t>
            </a:r>
            <a:r>
              <a:rPr lang="en-US" altLang="zh-CN" sz="2000">
                <a:solidFill>
                  <a:srgbClr val="4472C4">
                    <a:lumMod val="20000"/>
                    <a:lumOff val="8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+</a:t>
            </a:r>
            <a:r>
              <a:rPr lang="zh-CN" altLang="en-US" sz="2000">
                <a:solidFill>
                  <a:srgbClr val="4472C4">
                    <a:lumMod val="20000"/>
                    <a:lumOff val="8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宋体" pitchFamily="2" charset="-122"/>
              </a:rPr>
              <a:t>储能的组合方案，精准把综合电价压到</a:t>
            </a:r>
            <a:r>
              <a:rPr lang="en-US" altLang="zh-CN" sz="2800">
                <a:solidFill>
                  <a:srgbClr val="FFC000">
                    <a:lumMod val="40000"/>
                    <a:lumOff val="6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0.66~0.68</a:t>
            </a:r>
            <a:r>
              <a:rPr lang="zh-CN" altLang="en-US" sz="2800">
                <a:solidFill>
                  <a:srgbClr val="FFC000">
                    <a:lumMod val="40000"/>
                    <a:lumOff val="6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宋体" pitchFamily="2" charset="-122"/>
              </a:rPr>
              <a:t>元</a:t>
            </a:r>
            <a:r>
              <a:rPr lang="en-US" altLang="zh-CN" sz="2800">
                <a:solidFill>
                  <a:srgbClr val="FFC000">
                    <a:lumMod val="40000"/>
                    <a:lumOff val="6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/</a:t>
            </a:r>
            <a:r>
              <a:rPr lang="zh-CN" altLang="en-US" sz="2800">
                <a:solidFill>
                  <a:srgbClr val="FFC000">
                    <a:lumMod val="40000"/>
                    <a:lumOff val="6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宋体" pitchFamily="2" charset="-122"/>
              </a:rPr>
              <a:t>度</a:t>
            </a:r>
            <a:r>
              <a:rPr lang="zh-CN" altLang="en-US" sz="2000">
                <a:solidFill>
                  <a:srgbClr val="4472C4">
                    <a:lumMod val="20000"/>
                    <a:lumOff val="8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宋体" pitchFamily="2" charset="-122"/>
              </a:rPr>
              <a:t>，比山东平均工业电价</a:t>
            </a:r>
            <a:r>
              <a:rPr lang="en-US" altLang="zh-CN" sz="2800">
                <a:solidFill>
                  <a:srgbClr val="FFC000">
                    <a:lumMod val="40000"/>
                    <a:lumOff val="6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0.76</a:t>
            </a:r>
            <a:r>
              <a:rPr lang="zh-CN" altLang="en-US" sz="2800">
                <a:solidFill>
                  <a:srgbClr val="FFC000">
                    <a:lumMod val="40000"/>
                    <a:lumOff val="6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宋体" pitchFamily="2" charset="-122"/>
              </a:rPr>
              <a:t>元</a:t>
            </a:r>
            <a:r>
              <a:rPr lang="en-US" altLang="zh-CN" sz="2800">
                <a:solidFill>
                  <a:srgbClr val="FFC000">
                    <a:lumMod val="40000"/>
                    <a:lumOff val="6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/</a:t>
            </a:r>
            <a:r>
              <a:rPr lang="zh-CN" altLang="en-US" sz="2800">
                <a:solidFill>
                  <a:srgbClr val="FFC000">
                    <a:lumMod val="40000"/>
                    <a:lumOff val="6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宋体" pitchFamily="2" charset="-122"/>
              </a:rPr>
              <a:t>度</a:t>
            </a:r>
            <a:r>
              <a:rPr lang="zh-CN" altLang="en-US" sz="2000">
                <a:solidFill>
                  <a:srgbClr val="4472C4">
                    <a:lumMod val="20000"/>
                    <a:lumOff val="8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宋体" pitchFamily="2" charset="-122"/>
              </a:rPr>
              <a:t>低</a:t>
            </a:r>
            <a:r>
              <a:rPr lang="en-US" altLang="zh-CN" sz="2800">
                <a:solidFill>
                  <a:srgbClr val="FFC000">
                    <a:lumMod val="40000"/>
                    <a:lumOff val="6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+mn-ea"/>
              </a:rPr>
              <a:t>1</a:t>
            </a:r>
            <a:r>
              <a:rPr lang="zh-CN" altLang="en-US" sz="2800">
                <a:solidFill>
                  <a:srgbClr val="FFC000">
                    <a:lumMod val="40000"/>
                    <a:lumOff val="6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宋体" pitchFamily="2" charset="-122"/>
              </a:rPr>
              <a:t>毛钱</a:t>
            </a:r>
            <a:r>
              <a:rPr lang="zh-CN" altLang="en-US" sz="2000">
                <a:solidFill>
                  <a:srgbClr val="4472C4">
                    <a:lumMod val="20000"/>
                    <a:lumOff val="80000"/>
                  </a:srgb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宋体" pitchFamily="2" charset="-122"/>
              </a:rPr>
              <a:t>左右，长期运营优势特别明显。</a:t>
            </a:r>
            <a:endParaRPr lang="zh-CN" altLang="en-US" sz="2000">
              <a:solidFill>
                <a:srgbClr val="4472C4">
                  <a:lumMod val="20000"/>
                  <a:lumOff val="80000"/>
                </a:srgb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宋体" pitchFamily="2" charset="-122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en-US" altLang="zh-CN" sz="16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9905" y="27400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000" spc="100">
                <a:solidFill>
                  <a:schemeClr val="accent1">
                    <a:lumMod val="40000"/>
                    <a:lumOff val="60000"/>
                  </a:schemeClr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Part02</a:t>
            </a:r>
            <a:r>
              <a:rPr lang="en-US" altLang="zh-CN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  </a:t>
            </a:r>
            <a:r>
              <a:rPr lang="zh-CN" altLang="en-US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核心优势</a:t>
            </a:r>
            <a:endParaRPr lang="zh-CN" altLang="en-US" sz="200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7350" y="345440"/>
            <a:ext cx="72000" cy="252000"/>
          </a:xfrm>
          <a:prstGeom prst="rect">
            <a:avLst/>
          </a:prstGeom>
          <a:solidFill>
            <a:srgbClr val="637C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</p:txBody>
      </p:sp>
      <p:pic>
        <p:nvPicPr>
          <p:cNvPr id="11" name="图片 10" descr="RGB鲁南 logo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  <p:pic>
        <p:nvPicPr>
          <p:cNvPr id="2" name="图片 1" descr="Frame 114281436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6480" y="1385570"/>
            <a:ext cx="3058795" cy="1750695"/>
          </a:xfrm>
          <a:prstGeom prst="rect">
            <a:avLst/>
          </a:prstGeom>
        </p:spPr>
      </p:pic>
      <p:pic>
        <p:nvPicPr>
          <p:cNvPr id="3" name="图片 2" descr="Frame 114281428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0055" y="1385570"/>
            <a:ext cx="3047365" cy="176974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/>
          <p:cNvSpPr txBox="1"/>
          <p:nvPr/>
        </p:nvSpPr>
        <p:spPr>
          <a:xfrm>
            <a:off x="-258773" y="1582843"/>
            <a:ext cx="5082117" cy="3811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rgbClr val="4561FF"/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03</a:t>
            </a:r>
            <a:endParaRPr lang="en-US" altLang="zh-CN" sz="20000">
              <a:solidFill>
                <a:srgbClr val="4561FF"/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897630" y="2562860"/>
            <a:ext cx="5330825" cy="988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50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Part03 </a:t>
            </a:r>
            <a:r>
              <a:rPr lang="zh-CN" altLang="en-US" sz="50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建设内容</a:t>
            </a:r>
            <a:endParaRPr lang="zh-CN" altLang="en-US" sz="5000" spc="200">
              <a:solidFill>
                <a:schemeClr val="bg1"/>
              </a:solidFill>
              <a:uFillTx/>
              <a:latin typeface="微软雅黑" panose="020B0402040204020203" charset="-122"/>
              <a:ea typeface="微软雅黑" panose="020B0402040204020203" charset="-122"/>
              <a:cs typeface="Arial Black" panose="020B0A040201020202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-205846" y="-1664758"/>
            <a:ext cx="5082117" cy="3430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chemeClr val="accent1">
                    <a:lumMod val="75000"/>
                    <a:alpha val="40000"/>
                  </a:schemeClr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02</a:t>
            </a:r>
            <a:endParaRPr lang="en-US" altLang="zh-CN" sz="20000">
              <a:solidFill>
                <a:schemeClr val="accent1">
                  <a:lumMod val="75000"/>
                  <a:alpha val="40000"/>
                </a:schemeClr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205846" y="5148792"/>
            <a:ext cx="5082117" cy="3430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chemeClr val="accent1">
                    <a:lumMod val="75000"/>
                    <a:alpha val="40000"/>
                  </a:schemeClr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04</a:t>
            </a:r>
            <a:endParaRPr lang="en-US" altLang="zh-CN" sz="20000">
              <a:solidFill>
                <a:schemeClr val="accent1">
                  <a:lumMod val="75000"/>
                  <a:alpha val="40000"/>
                </a:schemeClr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6" name="矩形 45"/>
          <p:cNvSpPr/>
          <p:nvPr userDrawn="1"/>
        </p:nvSpPr>
        <p:spPr>
          <a:xfrm>
            <a:off x="4010889" y="3553844"/>
            <a:ext cx="95250" cy="95250"/>
          </a:xfrm>
          <a:prstGeom prst="rect">
            <a:avLst/>
          </a:prstGeom>
          <a:solidFill>
            <a:srgbClr val="4573FF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4561FF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cxnSp>
        <p:nvCxnSpPr>
          <p:cNvPr id="47" name="直接连接符 46"/>
          <p:cNvCxnSpPr/>
          <p:nvPr userDrawn="1"/>
        </p:nvCxnSpPr>
        <p:spPr>
          <a:xfrm>
            <a:off x="4106148" y="3601455"/>
            <a:ext cx="4681855" cy="0"/>
          </a:xfrm>
          <a:prstGeom prst="line">
            <a:avLst/>
          </a:prstGeom>
          <a:ln w="12700" cap="flat" cmpd="sng" algn="ctr">
            <a:solidFill>
              <a:srgbClr val="4561FF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 descr="RGB鲁南 logo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6240145" y="1176655"/>
            <a:ext cx="5565775" cy="4999990"/>
          </a:xfrm>
          <a:prstGeom prst="roundRect">
            <a:avLst>
              <a:gd name="adj" fmla="val 4618"/>
            </a:avLst>
          </a:prstGeom>
          <a:gradFill>
            <a:gsLst>
              <a:gs pos="0">
                <a:srgbClr val="102B68">
                  <a:alpha val="0"/>
                </a:srgbClr>
              </a:gs>
              <a:gs pos="100000">
                <a:srgbClr val="3752B1"/>
              </a:gs>
            </a:gsLst>
            <a:lin ang="2700000" scaled="0"/>
          </a:gra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252095" rIns="431800" anchor="ctr" anchorCtr="0">
            <a:noAutofit/>
          </a:bodyPr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en-US" altLang="zh-CN" sz="16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905" y="27400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000" spc="100">
                <a:solidFill>
                  <a:schemeClr val="accent1">
                    <a:lumMod val="40000"/>
                    <a:lumOff val="60000"/>
                  </a:schemeClr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Part03</a:t>
            </a:r>
            <a:r>
              <a:rPr lang="en-US" altLang="zh-CN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  </a:t>
            </a:r>
            <a:r>
              <a:rPr lang="zh-CN" altLang="en-US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建设</a:t>
            </a:r>
            <a:r>
              <a:rPr lang="zh-CN" altLang="en-US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内容</a:t>
            </a:r>
            <a:endParaRPr lang="zh-CN" altLang="en-US" sz="200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7350" y="345440"/>
            <a:ext cx="72000" cy="252000"/>
          </a:xfrm>
          <a:prstGeom prst="rect">
            <a:avLst/>
          </a:prstGeom>
          <a:solidFill>
            <a:srgbClr val="637C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</p:txBody>
      </p:sp>
      <p:pic>
        <p:nvPicPr>
          <p:cNvPr id="6" name="图片 5" descr="RGB鲁南 logo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6552565" y="3630295"/>
            <a:ext cx="4961255" cy="20466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87350" y="1176655"/>
            <a:ext cx="5565775" cy="4999990"/>
          </a:xfrm>
          <a:prstGeom prst="roundRect">
            <a:avLst>
              <a:gd name="adj" fmla="val 4618"/>
            </a:avLst>
          </a:prstGeom>
          <a:gradFill>
            <a:gsLst>
              <a:gs pos="0">
                <a:srgbClr val="102B68">
                  <a:alpha val="0"/>
                </a:srgbClr>
              </a:gs>
              <a:gs pos="100000">
                <a:srgbClr val="3752B1"/>
              </a:gs>
            </a:gsLst>
            <a:lin ang="2700000" scaled="0"/>
          </a:gra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252095" rIns="431800" anchor="ctr" anchorCtr="0">
            <a:noAutofit/>
          </a:bodyPr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en-US" altLang="zh-CN" sz="16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3575" y="3536315"/>
            <a:ext cx="4926330" cy="2141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635" y="1491615"/>
            <a:ext cx="468000" cy="468000"/>
          </a:xfrm>
          <a:prstGeom prst="rect">
            <a:avLst/>
          </a:prstGeom>
        </p:spPr>
      </p:pic>
      <p:sp>
        <p:nvSpPr>
          <p:cNvPr id="12" name="AutoShape 8"/>
          <p:cNvSpPr/>
          <p:nvPr>
            <p:custDataLst>
              <p:tags r:id="rId7"/>
            </p:custDataLst>
          </p:nvPr>
        </p:nvSpPr>
        <p:spPr>
          <a:xfrm>
            <a:off x="1384935" y="1419860"/>
            <a:ext cx="4844415" cy="606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i="0" u="none" strike="noStrike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核心基础设施</a:t>
            </a:r>
            <a:endParaRPr lang="en-US" sz="2800" i="0" u="none" strike="noStrike">
              <a:solidFill>
                <a:schemeClr val="accent5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</p:txBody>
      </p:sp>
      <p:sp>
        <p:nvSpPr>
          <p:cNvPr id="13" name="AutoShape 9"/>
          <p:cNvSpPr/>
          <p:nvPr>
            <p:custDataLst>
              <p:tags r:id="rId8"/>
            </p:custDataLst>
          </p:nvPr>
        </p:nvSpPr>
        <p:spPr>
          <a:xfrm>
            <a:off x="663575" y="2134235"/>
            <a:ext cx="5033645" cy="10960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以“电、网、柜”为核心，配备双回路供电、智能散热、多级网络架构，构建安全稳定的运行环境。</a:t>
            </a:r>
            <a:endParaRPr lang="en-US" sz="2200" b="0" i="0" u="none" strike="noStrike">
              <a:solidFill>
                <a:srgbClr val="CCD6F6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  <p:pic>
        <p:nvPicPr>
          <p:cNvPr id="14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10655" y="1422400"/>
            <a:ext cx="647700" cy="647700"/>
          </a:xfrm>
          <a:prstGeom prst="rect">
            <a:avLst/>
          </a:prstGeom>
        </p:spPr>
      </p:pic>
      <p:sp>
        <p:nvSpPr>
          <p:cNvPr id="18" name="AutoShape 12"/>
          <p:cNvSpPr/>
          <p:nvPr>
            <p:custDataLst>
              <p:tags r:id="rId12"/>
            </p:custDataLst>
          </p:nvPr>
        </p:nvSpPr>
        <p:spPr>
          <a:xfrm>
            <a:off x="7371715" y="1463675"/>
            <a:ext cx="4104640" cy="606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800" i="0" u="none" strike="noStrike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国产化AI算力服务器</a:t>
            </a:r>
            <a:endParaRPr lang="en-US" sz="2800">
              <a:solidFill>
                <a:schemeClr val="accent5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Noto Sans SC"/>
            </a:endParaRPr>
          </a:p>
        </p:txBody>
      </p:sp>
      <p:sp>
        <p:nvSpPr>
          <p:cNvPr id="19" name="AutoShape 13"/>
          <p:cNvSpPr/>
          <p:nvPr>
            <p:custDataLst>
              <p:tags r:id="rId13"/>
            </p:custDataLst>
          </p:nvPr>
        </p:nvSpPr>
        <p:spPr>
          <a:xfrm>
            <a:off x="6510655" y="2226945"/>
            <a:ext cx="4961255" cy="10960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08000"/>
              </a:lnSpc>
              <a:buSzTx/>
              <a:defRPr/>
            </a:pPr>
            <a:r>
              <a:rPr lang="en-US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核心采用</a:t>
            </a:r>
            <a:r>
              <a:rPr lang="en-US" sz="2200" b="0" i="0" u="none" strike="noStrike">
                <a:solidFill>
                  <a:srgbClr val="FF0000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海光FK100、PK100</a:t>
            </a:r>
            <a:r>
              <a:rPr lang="en-US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系列AI服务器，依托自主研发的DCU芯片，提供强大的AI训练与推理能力。</a:t>
            </a:r>
            <a:endParaRPr lang="en-US" sz="2200">
              <a:solidFill>
                <a:srgbClr val="CCD6F6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pic>
        <p:nvPicPr>
          <p:cNvPr id="20" name="图片 19" descr="a8014c086e061d950a7b846afaa31dd162d9f2d35c13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10980" y="3958590"/>
            <a:ext cx="2015490" cy="467995"/>
          </a:xfrm>
          <a:prstGeom prst="rect">
            <a:avLst/>
          </a:prstGeom>
        </p:spPr>
      </p:pic>
      <p:pic>
        <p:nvPicPr>
          <p:cNvPr id="21" name="图片 20" descr="fO3Nhfkij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86575" y="3332480"/>
            <a:ext cx="1606550" cy="1606550"/>
          </a:xfrm>
          <a:prstGeom prst="rect">
            <a:avLst/>
          </a:prstGeom>
        </p:spPr>
      </p:pic>
      <p:pic>
        <p:nvPicPr>
          <p:cNvPr id="22" name="图片 21" descr="宁畅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17360" y="4728210"/>
            <a:ext cx="2666365" cy="60642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3630" y="3842385"/>
            <a:ext cx="1332865" cy="51435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59735" y="3853180"/>
            <a:ext cx="2211070" cy="51498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6000" y="4778375"/>
            <a:ext cx="3570605" cy="62484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/>
          <p:cNvSpPr txBox="1"/>
          <p:nvPr/>
        </p:nvSpPr>
        <p:spPr>
          <a:xfrm>
            <a:off x="-258773" y="1582843"/>
            <a:ext cx="5082117" cy="3811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rgbClr val="4561FF"/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04</a:t>
            </a:r>
            <a:endParaRPr lang="en-US" altLang="zh-CN" sz="20000">
              <a:solidFill>
                <a:srgbClr val="4561FF"/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897630" y="2562860"/>
            <a:ext cx="7995920" cy="988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50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Part04 </a:t>
            </a:r>
            <a:r>
              <a:rPr lang="zh-CN" altLang="en-US" sz="50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投资主体和客户</a:t>
            </a:r>
            <a:endParaRPr lang="zh-CN" altLang="en-US" sz="5000" spc="200">
              <a:solidFill>
                <a:schemeClr val="bg1"/>
              </a:solidFill>
              <a:uFillTx/>
              <a:latin typeface="微软雅黑" panose="020B0402040204020203" charset="-122"/>
              <a:ea typeface="微软雅黑" panose="020B0402040204020203" charset="-122"/>
              <a:cs typeface="Arial Black" panose="020B0A04020102020204" charset="0"/>
            </a:endParaRPr>
          </a:p>
          <a:p>
            <a:endParaRPr lang="zh-CN" altLang="en-US" sz="5000" spc="200">
              <a:solidFill>
                <a:schemeClr val="bg1"/>
              </a:solidFill>
              <a:uFillTx/>
              <a:latin typeface="微软雅黑" panose="020B0402040204020203" charset="-122"/>
              <a:ea typeface="微软雅黑" panose="020B0402040204020203" charset="-122"/>
              <a:cs typeface="Arial Black" panose="020B0A040201020202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-205846" y="-1664758"/>
            <a:ext cx="5082117" cy="3430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chemeClr val="accent1">
                    <a:lumMod val="75000"/>
                    <a:alpha val="40000"/>
                  </a:schemeClr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03</a:t>
            </a:r>
            <a:endParaRPr lang="en-US" altLang="zh-CN" sz="20000">
              <a:solidFill>
                <a:schemeClr val="accent1">
                  <a:lumMod val="75000"/>
                  <a:alpha val="40000"/>
                </a:schemeClr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205846" y="5038302"/>
            <a:ext cx="5082117" cy="3430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chemeClr val="accent1">
                    <a:lumMod val="75000"/>
                    <a:alpha val="40000"/>
                  </a:schemeClr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05</a:t>
            </a:r>
            <a:endParaRPr lang="en-US" altLang="zh-CN" sz="20000">
              <a:solidFill>
                <a:schemeClr val="accent1">
                  <a:lumMod val="75000"/>
                  <a:alpha val="40000"/>
                </a:schemeClr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6" name="矩形 45"/>
          <p:cNvSpPr/>
          <p:nvPr userDrawn="1"/>
        </p:nvSpPr>
        <p:spPr>
          <a:xfrm>
            <a:off x="4010889" y="3553844"/>
            <a:ext cx="95250" cy="95250"/>
          </a:xfrm>
          <a:prstGeom prst="rect">
            <a:avLst/>
          </a:prstGeom>
          <a:solidFill>
            <a:srgbClr val="4573FF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4561FF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cxnSp>
        <p:nvCxnSpPr>
          <p:cNvPr id="47" name="直接连接符 46"/>
          <p:cNvCxnSpPr/>
          <p:nvPr userDrawn="1"/>
        </p:nvCxnSpPr>
        <p:spPr>
          <a:xfrm>
            <a:off x="4106148" y="3601455"/>
            <a:ext cx="6838950" cy="0"/>
          </a:xfrm>
          <a:prstGeom prst="line">
            <a:avLst/>
          </a:prstGeom>
          <a:ln w="12700" cap="flat" cmpd="sng" algn="ctr">
            <a:solidFill>
              <a:srgbClr val="4561FF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 descr="RGB鲁南 logo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7350" y="2404745"/>
            <a:ext cx="11506200" cy="4024630"/>
          </a:xfrm>
          <a:prstGeom prst="roundRect">
            <a:avLst>
              <a:gd name="adj" fmla="val 4618"/>
            </a:avLst>
          </a:prstGeom>
          <a:gradFill>
            <a:gsLst>
              <a:gs pos="0">
                <a:srgbClr val="102B68">
                  <a:alpha val="0"/>
                </a:srgbClr>
              </a:gs>
              <a:gs pos="100000">
                <a:srgbClr val="3752B1"/>
              </a:gs>
            </a:gsLst>
            <a:lin ang="2700000" scaled="0"/>
          </a:gra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252095" rIns="431800" anchor="ctr" anchorCtr="0">
            <a:noAutofit/>
          </a:bodyPr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zh-CN" altLang="en-US" sz="2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en-US" altLang="zh-CN" sz="16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40145" y="850265"/>
            <a:ext cx="5653405" cy="134112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07910" y="1006475"/>
            <a:ext cx="40913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>
                <a:solidFill>
                  <a:schemeClr val="accent5">
                    <a:lumMod val="20000"/>
                    <a:lumOff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</a:rPr>
              <a:t>算力投资</a:t>
            </a:r>
            <a:endParaRPr lang="zh-CN" altLang="en-US" sz="2800">
              <a:solidFill>
                <a:schemeClr val="accent5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07910" y="1501140"/>
            <a:ext cx="4485640" cy="460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>
                <a:solidFill>
                  <a:schemeClr val="accent4">
                    <a:lumMod val="40000"/>
                    <a:lumOff val="6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浪潮、上海万联、泰山信息科技</a:t>
            </a:r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联合投资，</a:t>
            </a:r>
            <a:endParaRPr lang="zh-CN" altLang="en-US" sz="1600">
              <a:solidFill>
                <a:schemeClr val="bg1">
                  <a:alpha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  <a:p>
            <a:pPr algn="l"/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引入顶尖算力资源</a:t>
            </a:r>
            <a:endParaRPr lang="zh-CN" altLang="en-US" sz="1600">
              <a:solidFill>
                <a:schemeClr val="bg1">
                  <a:alpha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  <a:p>
            <a:pPr algn="l"/>
            <a:endParaRPr lang="zh-CN" altLang="en-US" sz="1600">
              <a:solidFill>
                <a:schemeClr val="bg1">
                  <a:alpha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</p:txBody>
      </p:sp>
      <p:pic>
        <p:nvPicPr>
          <p:cNvPr id="9" name="图片 8" descr="弹性算力调度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0025" y="1106170"/>
            <a:ext cx="799465" cy="79946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87350" y="850265"/>
            <a:ext cx="5653405" cy="134112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40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592580" y="1056005"/>
            <a:ext cx="25298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>
                <a:solidFill>
                  <a:schemeClr val="accent5">
                    <a:lumMod val="20000"/>
                    <a:lumOff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</a:rPr>
              <a:t>电网柜的投资</a:t>
            </a:r>
            <a:endParaRPr lang="zh-CN" altLang="en-US" sz="2800">
              <a:solidFill>
                <a:schemeClr val="accent5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92580" y="1550670"/>
            <a:ext cx="4413250" cy="460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sz="1600">
                <a:solidFill>
                  <a:schemeClr val="bg1"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由</a:t>
            </a:r>
            <a:r>
              <a:rPr lang="zh-CN" altLang="en-US">
                <a:solidFill>
                  <a:schemeClr val="accent4">
                    <a:lumMod val="40000"/>
                    <a:lumOff val="6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中汇世联</a:t>
            </a:r>
            <a:r>
              <a:rPr lang="en-US" sz="1600">
                <a:solidFill>
                  <a:schemeClr val="bg1"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独立投资建设，保障项目基石稳固</a:t>
            </a:r>
            <a:endParaRPr lang="en-US" altLang="en-US" sz="1600">
              <a:solidFill>
                <a:schemeClr val="bg1">
                  <a:alpha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</p:txBody>
      </p:sp>
      <p:pic>
        <p:nvPicPr>
          <p:cNvPr id="23" name="图片 22" descr="环网柜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105" y="1169035"/>
            <a:ext cx="710565" cy="69786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392430" y="2486660"/>
            <a:ext cx="299910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/>
            <a:r>
              <a:rPr lang="zh-CN" altLang="en-US" sz="2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</a:rPr>
              <a:t>核心客户</a:t>
            </a:r>
            <a:r>
              <a:rPr lang="en-US" altLang="zh-CN" sz="2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</a:rPr>
              <a:t>(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</a:rPr>
              <a:t>无人驾驶</a:t>
            </a:r>
            <a:r>
              <a:rPr lang="en-US" altLang="zh-CN" sz="2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</a:rPr>
              <a:t>)</a:t>
            </a:r>
            <a:endParaRPr lang="en-US" altLang="zh-CN" sz="2400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31595" y="3035935"/>
            <a:ext cx="1120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</a:rPr>
              <a:t>地平线</a:t>
            </a:r>
            <a:endParaRPr lang="zh-CN" altLang="en-US" sz="2000" b="1">
              <a:solidFill>
                <a:schemeClr val="accent4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87045" y="3475355"/>
            <a:ext cx="2809875" cy="11969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地平线是北京地平线机器人技术研发有限公司于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2015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年由余凯博士创立的智能驾驶计算方案提供商，专注于车规级芯片及软硬件平台研发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 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，是国内首家实现前装量产的自动驾驶芯片企业。</a:t>
            </a:r>
            <a:endParaRPr lang="zh-CN" altLang="en-US" sz="1200">
              <a:solidFill>
                <a:schemeClr val="accent1">
                  <a:lumMod val="20000"/>
                  <a:lumOff val="80000"/>
                  <a:alpha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16635" y="4834890"/>
            <a:ext cx="1750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</a:rPr>
              <a:t>Momenta</a:t>
            </a:r>
            <a:endParaRPr lang="en-US" altLang="zh-CN" sz="2000" b="1">
              <a:solidFill>
                <a:schemeClr val="accent4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11810" y="5202555"/>
            <a:ext cx="2760345" cy="11969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北京初速度科技有限公司，是一家主要从事科技推广和应用服务业的有限责任公司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 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，经营范围包括辅助驾驶解决方案，成立于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2016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年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9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月，总部位于苏州相城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。</a:t>
            </a:r>
            <a:endParaRPr lang="en-US" altLang="zh-CN" sz="1200">
              <a:solidFill>
                <a:schemeClr val="accent1">
                  <a:lumMod val="20000"/>
                  <a:lumOff val="80000"/>
                  <a:alpha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970020" y="3035935"/>
            <a:ext cx="1654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</a:rPr>
              <a:t>腾讯游戏</a:t>
            </a:r>
            <a:endParaRPr lang="zh-CN" altLang="en-US" sz="2000" b="1">
              <a:solidFill>
                <a:schemeClr val="accent4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391625" y="3475355"/>
            <a:ext cx="2811600" cy="11969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腾讯游戏（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Tencent Games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）成立于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2003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年，是全球领先的游戏研发、运营和发行平台，隶属于腾讯互动娱乐事业群。业务涵盖自主研发、国际合作及多品类发行。海外品牌为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Level Infinite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。</a:t>
            </a:r>
            <a:endParaRPr lang="zh-CN" altLang="en-US" sz="1200">
              <a:solidFill>
                <a:schemeClr val="accent1">
                  <a:lumMod val="20000"/>
                  <a:lumOff val="80000"/>
                  <a:alpha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922078" y="4834890"/>
            <a:ext cx="1750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</a:rPr>
              <a:t>网易游戏</a:t>
            </a:r>
            <a:endParaRPr lang="zh-CN" altLang="en-US" sz="2000" b="1">
              <a:solidFill>
                <a:schemeClr val="accent4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391625" y="5202555"/>
            <a:ext cx="2811600" cy="1064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网易游戏是中国互联网企业网易公司旗下核心业务板块。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 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其在线游戏事业部于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2001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年成立，是综合性游戏开发与发行平台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。 </a:t>
            </a:r>
            <a:endParaRPr lang="en-US" altLang="zh-CN" sz="1200">
              <a:solidFill>
                <a:schemeClr val="accent1">
                  <a:lumMod val="20000"/>
                  <a:lumOff val="80000"/>
                  <a:alpha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298025" y="2486660"/>
            <a:ext cx="2998800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/>
            <a:r>
              <a:rPr lang="zh-CN" altLang="en-US" sz="2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</a:rPr>
              <a:t>游戏厂商</a:t>
            </a:r>
            <a:endParaRPr lang="zh-CN" altLang="en-US" sz="2400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289827" y="2486660"/>
            <a:ext cx="2998800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/>
            <a:r>
              <a:rPr lang="en-US" altLang="zh-CN" sz="2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AIGC(</a:t>
            </a:r>
            <a:r>
              <a:rPr lang="en-US" altLang="zh-CN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ai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漫剧</a:t>
            </a:r>
            <a:r>
              <a:rPr lang="en-US" altLang="zh-CN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/</a:t>
            </a: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数字人</a:t>
            </a:r>
            <a:r>
              <a:rPr lang="en-US" altLang="zh-CN" sz="2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)</a:t>
            </a:r>
            <a:endParaRPr lang="en-US" altLang="zh-CN" sz="2400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09905" y="27400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000" spc="100">
                <a:solidFill>
                  <a:schemeClr val="accent1">
                    <a:lumMod val="40000"/>
                    <a:lumOff val="60000"/>
                  </a:schemeClr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Part04</a:t>
            </a:r>
            <a:r>
              <a:rPr lang="en-US" altLang="zh-CN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  </a:t>
            </a:r>
            <a:r>
              <a:rPr lang="zh-CN" altLang="en-US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投资主体和客户</a:t>
            </a:r>
            <a:endParaRPr lang="zh-CN" altLang="en-US" sz="200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87350" y="345440"/>
            <a:ext cx="72000" cy="252000"/>
          </a:xfrm>
          <a:prstGeom prst="rect">
            <a:avLst/>
          </a:prstGeom>
          <a:solidFill>
            <a:srgbClr val="637C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961823" y="3035935"/>
            <a:ext cx="1654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</a:rPr>
              <a:t>Tapnow</a:t>
            </a:r>
            <a:endParaRPr lang="en-US" altLang="zh-CN" sz="2000" b="1">
              <a:solidFill>
                <a:schemeClr val="accent4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83427" y="3415030"/>
            <a:ext cx="2811600" cy="1064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深圳添科智能科技有限公司开发的一款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AI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视觉创作引擎，主要面向企业用户与创作者群体。该平台集成多类图像及视频生成模型，提供基于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Tapflow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可视化画布的节点式工作流，支持从创意构思到视觉内容产出的流程制作。</a:t>
            </a:r>
            <a:endParaRPr lang="zh-CN" altLang="en-US" sz="1200">
              <a:solidFill>
                <a:schemeClr val="accent1">
                  <a:lumMod val="20000"/>
                  <a:lumOff val="80000"/>
                  <a:alpha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913880" y="4834890"/>
            <a:ext cx="1750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</a:rPr>
              <a:t>LibTV</a:t>
            </a:r>
            <a:endParaRPr lang="en-US" altLang="zh-CN" sz="2000" b="1">
              <a:solidFill>
                <a:schemeClr val="accent4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383427" y="5202555"/>
            <a:ext cx="2811600" cy="1064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0000"/>
              </a:lnSpc>
            </a:pP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LibTV 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是由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 ‌LiblibAI‌ 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推出的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 AI 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视频创作平台。专注于构建一站式</a:t>
            </a:r>
            <a:r>
              <a:rPr lang="en-US" altLang="zh-CN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 AI </a:t>
            </a:r>
            <a:r>
              <a:rPr lang="zh-CN" altLang="en-US" sz="1200"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内容创作基础设施。</a:t>
            </a:r>
            <a:endParaRPr lang="zh-CN" altLang="en-US" sz="1200">
              <a:solidFill>
                <a:schemeClr val="accent1">
                  <a:lumMod val="20000"/>
                  <a:lumOff val="80000"/>
                  <a:alpha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  <p:pic>
        <p:nvPicPr>
          <p:cNvPr id="46" name="图片 45" descr="RGB鲁南 logo 1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9305925" y="2555875"/>
            <a:ext cx="2553970" cy="46037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 defTabSz="266700">
              <a:buClrTx/>
              <a:buSzTx/>
              <a:buFontTx/>
            </a:pPr>
            <a:r>
              <a:rPr lang="zh-CN" altLang="en-US" sz="2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sym typeface="+mn-ea"/>
              </a:rPr>
              <a:t>高校</a:t>
            </a:r>
            <a:r>
              <a:rPr lang="zh-CN" altLang="en-US" sz="2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sym typeface="+mn-ea"/>
              </a:rPr>
              <a:t>科研机构</a:t>
            </a:r>
            <a:endParaRPr lang="zh-CN" altLang="en-US" sz="2400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331325" y="3162935"/>
            <a:ext cx="2417445" cy="1192530"/>
          </a:xfrm>
          <a:prstGeom prst="roundRect">
            <a:avLst>
              <a:gd name="adj" fmla="val 10823"/>
            </a:avLst>
          </a:prstGeom>
          <a:solidFill>
            <a:schemeClr val="accent1">
              <a:lumMod val="75000"/>
              <a:alpha val="57000"/>
            </a:schemeClr>
          </a:soli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p>
            <a:pPr indent="0" algn="ctr">
              <a:lnSpc>
                <a:spcPct val="150000"/>
              </a:lnSpc>
              <a:buFont typeface="Arial" panose="020B0604020202090204"/>
              <a:buNone/>
            </a:pPr>
            <a:r>
              <a:rPr lang="zh-CN" altLang="en-US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山东科技大学</a:t>
            </a:r>
            <a:r>
              <a:rPr lang="en-US" altLang="zh-CN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(</a:t>
            </a:r>
            <a:r>
              <a:rPr lang="zh-CN" altLang="en-US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意向</a:t>
            </a:r>
            <a:r>
              <a:rPr lang="en-US" altLang="zh-CN" sz="12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150P</a:t>
            </a:r>
            <a:r>
              <a:rPr lang="zh-CN" altLang="en-US" sz="12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智算</a:t>
            </a:r>
            <a:r>
              <a:rPr lang="en-US" altLang="zh-CN" sz="12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)</a:t>
            </a:r>
            <a:endParaRPr lang="zh-CN" altLang="en-US" sz="1200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  <a:p>
            <a:pPr indent="0" algn="ctr">
              <a:lnSpc>
                <a:spcPct val="150000"/>
              </a:lnSpc>
              <a:buFont typeface="Arial" panose="020B0604020202090204"/>
              <a:buNone/>
            </a:pPr>
            <a:r>
              <a:rPr lang="zh-CN" altLang="en-US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中国石油大学</a:t>
            </a:r>
            <a:r>
              <a:rPr lang="en-US" altLang="zh-CN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(</a:t>
            </a:r>
            <a:r>
              <a:rPr lang="zh-CN" altLang="en-US" sz="1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签约</a:t>
            </a:r>
            <a:r>
              <a:rPr lang="en-US" altLang="zh-CN" sz="12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120P</a:t>
            </a:r>
            <a:r>
              <a:rPr lang="zh-CN" altLang="en-US" sz="12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智算</a:t>
            </a:r>
            <a:r>
              <a:rPr lang="en-US" altLang="zh-CN" sz="12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)</a:t>
            </a:r>
            <a:endParaRPr lang="en-US" altLang="zh-CN" sz="1200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305925" y="4700270"/>
            <a:ext cx="2553970" cy="46037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 defTabSz="266700">
              <a:buClrTx/>
              <a:buSzTx/>
              <a:buFontTx/>
            </a:pPr>
            <a:r>
              <a:rPr lang="zh-CN" altLang="en-US" sz="2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sym typeface="+mn-ea"/>
              </a:rPr>
              <a:t>化工</a:t>
            </a:r>
            <a:r>
              <a:rPr lang="zh-CN" altLang="en-US" sz="2400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sym typeface="+mn-ea"/>
              </a:rPr>
              <a:t>领域</a:t>
            </a:r>
            <a:endParaRPr lang="zh-CN" altLang="en-US" sz="2400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9214485" y="5258435"/>
            <a:ext cx="2534920" cy="909320"/>
          </a:xfrm>
          <a:prstGeom prst="roundRect">
            <a:avLst>
              <a:gd name="adj" fmla="val 10823"/>
            </a:avLst>
          </a:prstGeom>
          <a:solidFill>
            <a:schemeClr val="accent1">
              <a:lumMod val="75000"/>
              <a:alpha val="57000"/>
            </a:schemeClr>
          </a:soli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r>
              <a:rPr lang="zh-CN" altLang="en-US">
                <a:solidFill>
                  <a:schemeClr val="bg1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枣庄市中区化工园区</a:t>
            </a:r>
            <a:endParaRPr lang="zh-CN" altLang="en-US">
              <a:solidFill>
                <a:schemeClr val="bg1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/>
          <p:cNvSpPr txBox="1"/>
          <p:nvPr/>
        </p:nvSpPr>
        <p:spPr>
          <a:xfrm>
            <a:off x="-258773" y="1582843"/>
            <a:ext cx="5082117" cy="3811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rgbClr val="4561FF"/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05</a:t>
            </a:r>
            <a:endParaRPr lang="en-US" altLang="zh-CN" sz="20000">
              <a:solidFill>
                <a:srgbClr val="4561FF"/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897630" y="2860040"/>
            <a:ext cx="7995920" cy="988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Part05 </a:t>
            </a:r>
            <a:r>
              <a:rPr lang="zh-CN" altLang="en-US" sz="28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算力</a:t>
            </a:r>
            <a:r>
              <a:rPr lang="en-US" altLang="zh-CN" sz="28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+Token</a:t>
            </a:r>
            <a:r>
              <a:rPr lang="zh-CN" altLang="en-US" sz="28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双引擎助力</a:t>
            </a:r>
            <a:r>
              <a:rPr lang="en-US" altLang="zh-CN" sz="28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AI</a:t>
            </a:r>
            <a:r>
              <a:rPr lang="zh-CN" altLang="en-US" sz="2800" spc="200">
                <a:solidFill>
                  <a:schemeClr val="bg1"/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Arial Black" panose="020B0A04020102020204" charset="0"/>
              </a:rPr>
              <a:t>产业发展</a:t>
            </a:r>
            <a:endParaRPr lang="zh-CN" altLang="en-US" sz="2800" spc="200">
              <a:solidFill>
                <a:schemeClr val="bg1"/>
              </a:solidFill>
              <a:uFillTx/>
              <a:latin typeface="微软雅黑" panose="020B0402040204020203" charset="-122"/>
              <a:ea typeface="微软雅黑" panose="020B0402040204020203" charset="-122"/>
              <a:cs typeface="Arial Black" panose="020B0A040201020202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-205846" y="-1664758"/>
            <a:ext cx="5082117" cy="3430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chemeClr val="accent1">
                    <a:lumMod val="75000"/>
                    <a:alpha val="40000"/>
                  </a:schemeClr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04</a:t>
            </a:r>
            <a:endParaRPr lang="en-US" altLang="zh-CN" sz="20000">
              <a:solidFill>
                <a:schemeClr val="accent1">
                  <a:lumMod val="75000"/>
                  <a:alpha val="40000"/>
                </a:schemeClr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205846" y="5038302"/>
            <a:ext cx="5082117" cy="34304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0">
                <a:solidFill>
                  <a:schemeClr val="accent1">
                    <a:lumMod val="75000"/>
                    <a:alpha val="40000"/>
                  </a:schemeClr>
                </a:solidFill>
                <a:latin typeface="Arial Black" panose="020B0A04020102020204" charset="0"/>
                <a:ea typeface="Arial Black" panose="020B0A04020102020204" charset="0"/>
                <a:cs typeface="Arial Black" panose="020B0A04020102020204" charset="0"/>
              </a:rPr>
              <a:t>06</a:t>
            </a:r>
            <a:endParaRPr lang="en-US" altLang="zh-CN" sz="20000">
              <a:solidFill>
                <a:schemeClr val="accent1">
                  <a:lumMod val="75000"/>
                  <a:alpha val="40000"/>
                </a:schemeClr>
              </a:solidFill>
              <a:latin typeface="Arial Black" panose="020B0A04020102020204" charset="0"/>
              <a:ea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6" name="矩形 45"/>
          <p:cNvSpPr/>
          <p:nvPr userDrawn="1"/>
        </p:nvSpPr>
        <p:spPr>
          <a:xfrm>
            <a:off x="4010889" y="3553844"/>
            <a:ext cx="95250" cy="95250"/>
          </a:xfrm>
          <a:prstGeom prst="rect">
            <a:avLst/>
          </a:prstGeom>
          <a:solidFill>
            <a:srgbClr val="4573FF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4561FF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cxnSp>
        <p:nvCxnSpPr>
          <p:cNvPr id="47" name="直接连接符 46"/>
          <p:cNvCxnSpPr/>
          <p:nvPr userDrawn="1"/>
        </p:nvCxnSpPr>
        <p:spPr>
          <a:xfrm>
            <a:off x="4106148" y="3601455"/>
            <a:ext cx="7117715" cy="0"/>
          </a:xfrm>
          <a:prstGeom prst="line">
            <a:avLst/>
          </a:prstGeom>
          <a:ln w="12700" cap="flat" cmpd="sng" algn="ctr">
            <a:solidFill>
              <a:srgbClr val="4561FF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 descr="RGB鲁南 logo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5998845" y="1475105"/>
            <a:ext cx="5708650" cy="3544570"/>
          </a:xfrm>
          <a:prstGeom prst="roundRect">
            <a:avLst>
              <a:gd name="adj" fmla="val 4618"/>
            </a:avLst>
          </a:prstGeom>
          <a:gradFill>
            <a:gsLst>
              <a:gs pos="0">
                <a:srgbClr val="102B68">
                  <a:alpha val="0"/>
                </a:srgbClr>
              </a:gs>
              <a:gs pos="100000">
                <a:srgbClr val="3752B1"/>
              </a:gs>
            </a:gsLst>
            <a:lin ang="2700000" scaled="0"/>
          </a:gra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252095" rIns="431800" anchor="ctr" anchorCtr="0">
            <a:noAutofit/>
          </a:bodyPr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zh-CN" altLang="en-US" sz="2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en-US" altLang="zh-CN" sz="16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7350" y="1475105"/>
            <a:ext cx="5380990" cy="3544570"/>
          </a:xfrm>
          <a:prstGeom prst="roundRect">
            <a:avLst>
              <a:gd name="adj" fmla="val 4618"/>
            </a:avLst>
          </a:prstGeom>
          <a:gradFill>
            <a:gsLst>
              <a:gs pos="0">
                <a:srgbClr val="102B68">
                  <a:alpha val="0"/>
                </a:srgbClr>
              </a:gs>
              <a:gs pos="100000">
                <a:srgbClr val="3752B1"/>
              </a:gs>
            </a:gsLst>
            <a:lin ang="2700000" scaled="0"/>
          </a:gra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252095" rIns="431800" anchor="ctr" anchorCtr="0">
            <a:noAutofit/>
          </a:bodyPr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zh-CN" altLang="en-US" sz="2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en-US" altLang="zh-CN" sz="16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5" name="AutoShape 8"/>
          <p:cNvSpPr/>
          <p:nvPr>
            <p:custDataLst>
              <p:tags r:id="rId2"/>
            </p:custDataLst>
          </p:nvPr>
        </p:nvSpPr>
        <p:spPr>
          <a:xfrm>
            <a:off x="1320165" y="1944370"/>
            <a:ext cx="4137660" cy="606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i="0" u="none" strike="noStrike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赋能本地工业数智化转型</a:t>
            </a:r>
            <a:r>
              <a:rPr lang="zh-CN" altLang="en-US" sz="2400" i="0" u="none" strike="noStrike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升级</a:t>
            </a:r>
            <a:endParaRPr lang="zh-CN" altLang="en-US" sz="2400" i="0" u="none" strike="noStrike">
              <a:solidFill>
                <a:schemeClr val="accent5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</p:txBody>
      </p:sp>
      <p:sp>
        <p:nvSpPr>
          <p:cNvPr id="6" name="AutoShape 9"/>
          <p:cNvSpPr/>
          <p:nvPr>
            <p:custDataLst>
              <p:tags r:id="rId3"/>
            </p:custDataLst>
          </p:nvPr>
        </p:nvSpPr>
        <p:spPr>
          <a:xfrm>
            <a:off x="734060" y="2779395"/>
            <a:ext cx="4723130" cy="18675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为化工、装备制造等传统产业提供</a:t>
            </a:r>
            <a:r>
              <a:rPr lang="en-US" altLang="zh-CN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AI</a:t>
            </a:r>
            <a:r>
              <a:rPr lang="zh-CN" altLang="en-US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算力与大数据分析，推动</a:t>
            </a:r>
            <a:r>
              <a:rPr lang="en-US" altLang="zh-CN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“</a:t>
            </a:r>
            <a:r>
              <a:rPr lang="zh-CN" altLang="en-US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智改数转</a:t>
            </a:r>
            <a:r>
              <a:rPr lang="en-US" altLang="zh-CN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”</a:t>
            </a:r>
            <a:r>
              <a:rPr lang="zh-CN" altLang="en-US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，实现生产流程优化与降本增效，加速传统产业向智能制造升级。</a:t>
            </a:r>
            <a:endParaRPr lang="zh-CN" altLang="en-US" sz="2200" b="0" i="0" u="none" strike="noStrike">
              <a:solidFill>
                <a:srgbClr val="CCD6F6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007" y="1996983"/>
            <a:ext cx="421553" cy="421553"/>
          </a:xfrm>
          <a:prstGeom prst="rect">
            <a:avLst/>
          </a:prstGeom>
        </p:spPr>
      </p:pic>
      <p:pic>
        <p:nvPicPr>
          <p:cNvPr id="12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0012" y="1983013"/>
            <a:ext cx="421553" cy="421553"/>
          </a:xfrm>
          <a:prstGeom prst="rect">
            <a:avLst/>
          </a:prstGeom>
        </p:spPr>
      </p:pic>
      <p:sp>
        <p:nvSpPr>
          <p:cNvPr id="18" name="AutoShape 13"/>
          <p:cNvSpPr/>
          <p:nvPr/>
        </p:nvSpPr>
        <p:spPr>
          <a:xfrm>
            <a:off x="563121" y="5545688"/>
            <a:ext cx="11065758" cy="26347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5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5867" tIns="65867" rIns="65867" bIns="65867" rtlCol="0" anchor="ctr"/>
          <a:lstStyle/>
          <a:p>
            <a:pPr algn="ctr">
              <a:defRPr/>
            </a:pPr>
            <a:endParaRPr sz="1455"/>
          </a:p>
        </p:txBody>
      </p:sp>
      <p:sp>
        <p:nvSpPr>
          <p:cNvPr id="19" name="AutoShape 14"/>
          <p:cNvSpPr/>
          <p:nvPr/>
        </p:nvSpPr>
        <p:spPr>
          <a:xfrm>
            <a:off x="563121" y="5677079"/>
            <a:ext cx="11065758" cy="5269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i="0" u="none" strike="noStrike">
                <a:solidFill>
                  <a:srgbClr val="64FFDA"/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以超算为核，驱动传统产业升级与新兴产业孵化双轮并进</a:t>
            </a:r>
            <a:endParaRPr lang="en-US" sz="2400" i="0" u="none" strike="noStrike">
              <a:solidFill>
                <a:srgbClr val="64FFDA"/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09905" y="27400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000" spc="100">
                <a:solidFill>
                  <a:schemeClr val="accent1">
                    <a:lumMod val="40000"/>
                    <a:lumOff val="60000"/>
                  </a:schemeClr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Part04</a:t>
            </a:r>
            <a:r>
              <a:rPr lang="en-US" altLang="zh-CN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  </a:t>
            </a:r>
            <a:r>
              <a:rPr lang="zh-CN" altLang="en-US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算力</a:t>
            </a:r>
            <a:r>
              <a:rPr lang="en-US" altLang="zh-CN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+Token</a:t>
            </a:r>
            <a:r>
              <a:rPr lang="zh-CN" altLang="en-US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双引擎助力</a:t>
            </a:r>
            <a:r>
              <a:rPr lang="en-US" altLang="zh-CN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AI</a:t>
            </a:r>
            <a:r>
              <a:rPr lang="zh-CN" altLang="en-US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产业发展</a:t>
            </a:r>
            <a:endParaRPr lang="zh-CN" altLang="en-US" sz="200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87350" y="345440"/>
            <a:ext cx="72000" cy="252000"/>
          </a:xfrm>
          <a:prstGeom prst="rect">
            <a:avLst/>
          </a:prstGeom>
          <a:solidFill>
            <a:srgbClr val="637C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</p:txBody>
      </p:sp>
      <p:pic>
        <p:nvPicPr>
          <p:cNvPr id="22" name="图片 21" descr="RGB鲁南 logo 1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  <p:sp>
        <p:nvSpPr>
          <p:cNvPr id="28" name="AutoShape 8"/>
          <p:cNvSpPr/>
          <p:nvPr>
            <p:custDataLst>
              <p:tags r:id="rId10"/>
            </p:custDataLst>
          </p:nvPr>
        </p:nvSpPr>
        <p:spPr>
          <a:xfrm>
            <a:off x="6661150" y="1962150"/>
            <a:ext cx="4930775" cy="422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i="0" u="none" strike="noStrike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“</a:t>
            </a:r>
            <a:r>
              <a:rPr lang="zh-CN" altLang="en-US" sz="2200" i="0" u="none" strike="noStrike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算力</a:t>
            </a:r>
            <a:r>
              <a:rPr lang="en-US" altLang="zh-CN" sz="2200" i="0" u="none" strike="noStrike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+Token”</a:t>
            </a:r>
            <a:r>
              <a:rPr lang="zh-CN" altLang="en-US" sz="2200" i="0" u="none" strike="noStrike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双引擎布局</a:t>
            </a:r>
            <a:r>
              <a:rPr lang="en-US" altLang="zh-CN" sz="2200" i="0" u="none" strike="noStrike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AIGC</a:t>
            </a:r>
            <a:r>
              <a:rPr lang="zh-CN" altLang="en-US" sz="2200" i="0" u="none" strike="noStrike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产业园</a:t>
            </a:r>
            <a:endParaRPr lang="zh-CN" altLang="en-US" sz="2200" i="0" u="none" strike="noStrike">
              <a:solidFill>
                <a:schemeClr val="accent5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</p:txBody>
      </p:sp>
      <p:sp>
        <p:nvSpPr>
          <p:cNvPr id="47" name="AutoShape 9"/>
          <p:cNvSpPr/>
          <p:nvPr>
            <p:custDataLst>
              <p:tags r:id="rId11"/>
            </p:custDataLst>
          </p:nvPr>
        </p:nvSpPr>
        <p:spPr>
          <a:xfrm>
            <a:off x="6309995" y="2779395"/>
            <a:ext cx="5034280" cy="1664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构建算力</a:t>
            </a:r>
            <a:r>
              <a:rPr lang="en-US" altLang="zh-CN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Token</a:t>
            </a:r>
            <a:r>
              <a:rPr lang="zh-CN" altLang="en-US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化体系，激活数据要素价值。重点布局</a:t>
            </a:r>
            <a:r>
              <a:rPr lang="en-US" altLang="zh-CN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AIGC</a:t>
            </a:r>
            <a:r>
              <a:rPr lang="zh-CN" altLang="en-US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、数据标注、</a:t>
            </a:r>
            <a:r>
              <a:rPr lang="en-US" altLang="zh-CN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AI</a:t>
            </a:r>
            <a:r>
              <a:rPr lang="zh-CN" altLang="en-US" sz="2200" b="0" i="0" u="none" strike="noStrike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漫剧等新业态，培育数字经济增长新动能，抢占未来产业制高点。</a:t>
            </a:r>
            <a:endParaRPr lang="zh-CN" altLang="en-US" sz="2200" b="0" i="0" u="none" strike="noStrike">
              <a:solidFill>
                <a:srgbClr val="CCD6F6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4224020" y="1252855"/>
            <a:ext cx="3547745" cy="3544570"/>
          </a:xfrm>
          <a:prstGeom prst="roundRect">
            <a:avLst>
              <a:gd name="adj" fmla="val 4618"/>
            </a:avLst>
          </a:prstGeom>
          <a:gradFill>
            <a:gsLst>
              <a:gs pos="0">
                <a:srgbClr val="102B68">
                  <a:alpha val="0"/>
                </a:srgbClr>
              </a:gs>
              <a:gs pos="100000">
                <a:srgbClr val="3752B1"/>
              </a:gs>
            </a:gsLst>
            <a:lin ang="2700000" scaled="0"/>
          </a:gra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252095" rIns="431800" anchor="ctr" anchorCtr="0">
            <a:noAutofit/>
          </a:bodyPr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zh-CN" altLang="en-US" sz="2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en-US" altLang="zh-CN" sz="16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112125" y="1252855"/>
            <a:ext cx="3547745" cy="3544570"/>
          </a:xfrm>
          <a:prstGeom prst="roundRect">
            <a:avLst>
              <a:gd name="adj" fmla="val 4618"/>
            </a:avLst>
          </a:prstGeom>
          <a:gradFill>
            <a:gsLst>
              <a:gs pos="0">
                <a:srgbClr val="102B68">
                  <a:alpha val="0"/>
                </a:srgbClr>
              </a:gs>
              <a:gs pos="100000">
                <a:srgbClr val="3752B1"/>
              </a:gs>
            </a:gsLst>
            <a:lin ang="2700000" scaled="0"/>
          </a:gra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252095" rIns="431800" anchor="ctr" anchorCtr="0">
            <a:noAutofit/>
          </a:bodyPr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zh-CN" altLang="en-US" sz="2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en-US" altLang="zh-CN" sz="16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7350" y="1252855"/>
            <a:ext cx="3547745" cy="3544570"/>
          </a:xfrm>
          <a:prstGeom prst="roundRect">
            <a:avLst>
              <a:gd name="adj" fmla="val 4618"/>
            </a:avLst>
          </a:prstGeom>
          <a:gradFill>
            <a:gsLst>
              <a:gs pos="0">
                <a:srgbClr val="102B68">
                  <a:alpha val="0"/>
                </a:srgbClr>
              </a:gs>
              <a:gs pos="100000">
                <a:srgbClr val="3752B1"/>
              </a:gs>
            </a:gsLst>
            <a:lin ang="2700000" scaled="0"/>
          </a:gra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252095" rIns="431800" anchor="ctr" anchorCtr="0">
            <a:noAutofit/>
          </a:bodyPr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zh-CN" altLang="en-US" sz="200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  <a:p>
            <a:pPr indent="0" algn="ctr">
              <a:lnSpc>
                <a:spcPct val="110000"/>
              </a:lnSpc>
              <a:buFont typeface="Arial" panose="020B0604020202090204"/>
              <a:buNone/>
            </a:pPr>
            <a:endParaRPr lang="en-US" altLang="zh-CN" sz="16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+mn-ea"/>
            </a:endParaRPr>
          </a:p>
        </p:txBody>
      </p:sp>
      <p:sp>
        <p:nvSpPr>
          <p:cNvPr id="3" name="AutoShape 8"/>
          <p:cNvSpPr/>
          <p:nvPr>
            <p:custDataLst>
              <p:tags r:id="rId2"/>
            </p:custDataLst>
          </p:nvPr>
        </p:nvSpPr>
        <p:spPr>
          <a:xfrm>
            <a:off x="1516380" y="1433195"/>
            <a:ext cx="1981835" cy="606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i="0" u="none" strike="noStrike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产业园定位</a:t>
            </a:r>
            <a:endParaRPr lang="zh-CN" altLang="en-US" sz="2800" i="0" u="none" strike="noStrike">
              <a:solidFill>
                <a:schemeClr val="accent5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</p:txBody>
      </p:sp>
      <p:sp>
        <p:nvSpPr>
          <p:cNvPr id="10" name="AutoShape 9"/>
          <p:cNvSpPr/>
          <p:nvPr>
            <p:custDataLst>
              <p:tags r:id="rId3"/>
            </p:custDataLst>
          </p:nvPr>
        </p:nvSpPr>
        <p:spPr>
          <a:xfrm>
            <a:off x="584835" y="2221230"/>
            <a:ext cx="3350260" cy="22307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lvl="0" algn="l">
              <a:lnSpc>
                <a:spcPct val="150000"/>
              </a:lnSpc>
              <a:buSzTx/>
              <a:defRPr/>
            </a:pPr>
            <a:r>
              <a:rPr lang="zh-CN" altLang="en-US" sz="2200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以鲁南超算中心为算力核心，在枣庄市区建设AIGC数字文创产业园，夯实数字经济基础设施。</a:t>
            </a:r>
            <a:endParaRPr lang="zh-CN" altLang="en-US" sz="2200">
              <a:solidFill>
                <a:srgbClr val="CCD6F6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  <p:sp>
        <p:nvSpPr>
          <p:cNvPr id="4" name="AutoShape 13"/>
          <p:cNvSpPr/>
          <p:nvPr/>
        </p:nvSpPr>
        <p:spPr>
          <a:xfrm>
            <a:off x="563121" y="5339313"/>
            <a:ext cx="11065758" cy="26347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5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5867" tIns="65867" rIns="65867" bIns="65867" rtlCol="0" anchor="ctr"/>
          <a:lstStyle/>
          <a:p>
            <a:pPr algn="ctr">
              <a:defRPr/>
            </a:pPr>
            <a:endParaRPr sz="1455"/>
          </a:p>
        </p:txBody>
      </p:sp>
      <p:sp>
        <p:nvSpPr>
          <p:cNvPr id="9" name="AutoShape 14"/>
          <p:cNvSpPr/>
          <p:nvPr/>
        </p:nvSpPr>
        <p:spPr>
          <a:xfrm>
            <a:off x="563121" y="5470704"/>
            <a:ext cx="11065758" cy="5269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2400" i="0" u="none" strike="noStrike">
                <a:solidFill>
                  <a:srgbClr val="64FFDA"/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“</a:t>
            </a:r>
            <a:r>
              <a:rPr lang="zh-CN" altLang="en-US" sz="2400" i="0" u="none" strike="noStrike">
                <a:solidFill>
                  <a:srgbClr val="64FFDA"/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以超算为引擎，以生态为驱动，共创数字未来</a:t>
            </a:r>
            <a:r>
              <a:rPr lang="en-US" altLang="zh-CN" sz="2400" i="0" u="none" strike="noStrike">
                <a:solidFill>
                  <a:srgbClr val="64FFDA"/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”</a:t>
            </a:r>
            <a:endParaRPr lang="en-US" altLang="zh-CN" sz="2400" i="0" u="none" strike="noStrike">
              <a:solidFill>
                <a:srgbClr val="64FFDA"/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9905" y="27400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000" spc="100">
                <a:solidFill>
                  <a:schemeClr val="accent1">
                    <a:lumMod val="40000"/>
                    <a:lumOff val="60000"/>
                  </a:schemeClr>
                </a:solidFill>
                <a:uFillTx/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Part06</a:t>
            </a:r>
            <a:r>
              <a:rPr lang="en-US" altLang="zh-CN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  </a:t>
            </a:r>
            <a:r>
              <a:rPr lang="zh-CN" altLang="en-US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未来展望：打造</a:t>
            </a:r>
            <a:r>
              <a:rPr lang="en-US" altLang="zh-CN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AIGC</a:t>
            </a:r>
            <a:r>
              <a:rPr lang="zh-CN" altLang="en-US" sz="200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</a:rPr>
              <a:t>产业园</a:t>
            </a:r>
            <a:endParaRPr lang="zh-CN" altLang="en-US" sz="200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87350" y="345440"/>
            <a:ext cx="72000" cy="252000"/>
          </a:xfrm>
          <a:prstGeom prst="rect">
            <a:avLst/>
          </a:prstGeom>
          <a:solidFill>
            <a:srgbClr val="637C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402040204020203" charset="-122"/>
              <a:ea typeface="微软雅黑" panose="020B0402040204020203" charset="-122"/>
            </a:endParaRPr>
          </a:p>
        </p:txBody>
      </p:sp>
      <p:sp>
        <p:nvSpPr>
          <p:cNvPr id="14" name="AutoShape 8"/>
          <p:cNvSpPr/>
          <p:nvPr>
            <p:custDataLst>
              <p:tags r:id="rId4"/>
            </p:custDataLst>
          </p:nvPr>
        </p:nvSpPr>
        <p:spPr>
          <a:xfrm>
            <a:off x="5313680" y="1401445"/>
            <a:ext cx="1558290" cy="606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2800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核心赛道</a:t>
            </a:r>
            <a:endParaRPr lang="zh-CN" altLang="en-US" sz="2800" i="0" u="none" strike="noStrike">
              <a:solidFill>
                <a:schemeClr val="accent5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</p:txBody>
      </p:sp>
      <p:sp>
        <p:nvSpPr>
          <p:cNvPr id="16" name="AutoShape 9"/>
          <p:cNvSpPr/>
          <p:nvPr>
            <p:custDataLst>
              <p:tags r:id="rId5"/>
            </p:custDataLst>
          </p:nvPr>
        </p:nvSpPr>
        <p:spPr>
          <a:xfrm>
            <a:off x="4420235" y="2326640"/>
            <a:ext cx="3098800" cy="2125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lvl="0" algn="l">
              <a:lnSpc>
                <a:spcPct val="150000"/>
              </a:lnSpc>
              <a:buSzTx/>
              <a:defRPr/>
            </a:pPr>
            <a:r>
              <a:rPr lang="zh-CN" altLang="en-US" sz="2200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聚焦三大核心方向：</a:t>
            </a:r>
            <a:br>
              <a:rPr lang="zh-CN" altLang="en-US" sz="2200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</a:br>
            <a:r>
              <a:rPr lang="zh-CN" altLang="en-US" sz="2200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1. 数据标注与服务</a:t>
            </a:r>
            <a:br>
              <a:rPr lang="zh-CN" altLang="en-US" sz="2200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</a:br>
            <a:r>
              <a:rPr lang="zh-CN" altLang="en-US" sz="2200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2. AIGC内容生产</a:t>
            </a:r>
            <a:br>
              <a:rPr lang="zh-CN" altLang="en-US" sz="2200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</a:br>
            <a:r>
              <a:rPr lang="zh-CN" altLang="en-US" sz="2200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3. 算力服务与应用孵化</a:t>
            </a:r>
            <a:endParaRPr lang="zh-CN" altLang="en-US" sz="2200">
              <a:solidFill>
                <a:srgbClr val="CCD6F6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  <p:sp>
        <p:nvSpPr>
          <p:cNvPr id="31" name="AutoShape 8"/>
          <p:cNvSpPr/>
          <p:nvPr>
            <p:custDataLst>
              <p:tags r:id="rId6"/>
            </p:custDataLst>
          </p:nvPr>
        </p:nvSpPr>
        <p:spPr>
          <a:xfrm>
            <a:off x="9343390" y="1401445"/>
            <a:ext cx="1576070" cy="606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SzTx/>
              <a:defRPr/>
            </a:pPr>
            <a:r>
              <a:rPr lang="zh-CN" altLang="en-US" sz="2800">
                <a:solidFill>
                  <a:schemeClr val="accent5">
                    <a:lumMod val="40000"/>
                    <a:lumOff val="60000"/>
                  </a:schemeClr>
                </a:solidFill>
                <a:latin typeface="微软雅黑" panose="020B0402040204020203" charset="-122"/>
                <a:ea typeface="微软雅黑" panose="020B0402040204020203" charset="-122"/>
                <a:cs typeface="Noto Sans SC"/>
                <a:sym typeface="Noto Sans SC"/>
              </a:rPr>
              <a:t>发展目标</a:t>
            </a:r>
            <a:endParaRPr lang="zh-CN" altLang="en-US" sz="2800">
              <a:solidFill>
                <a:schemeClr val="accent5">
                  <a:lumMod val="40000"/>
                  <a:lumOff val="60000"/>
                </a:schemeClr>
              </a:solidFill>
              <a:latin typeface="微软雅黑" panose="020B0402040204020203" charset="-122"/>
              <a:ea typeface="微软雅黑" panose="020B0402040204020203" charset="-122"/>
              <a:cs typeface="Noto Sans SC"/>
              <a:sym typeface="Noto Sans SC"/>
            </a:endParaRPr>
          </a:p>
        </p:txBody>
      </p:sp>
      <p:sp>
        <p:nvSpPr>
          <p:cNvPr id="32" name="AutoShape 9"/>
          <p:cNvSpPr/>
          <p:nvPr>
            <p:custDataLst>
              <p:tags r:id="rId7"/>
            </p:custDataLst>
          </p:nvPr>
        </p:nvSpPr>
        <p:spPr>
          <a:xfrm>
            <a:off x="8355330" y="2326640"/>
            <a:ext cx="3098800" cy="2125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lvl="0" algn="l">
              <a:lnSpc>
                <a:spcPct val="150000"/>
              </a:lnSpc>
              <a:buSzTx/>
              <a:defRPr/>
            </a:pPr>
            <a:r>
              <a:rPr lang="zh-CN" altLang="en-US" sz="2200">
                <a:solidFill>
                  <a:srgbClr val="CCD6F6"/>
                </a:solidFill>
                <a:latin typeface="微软雅黑" panose="020B0402040204020203" charset="-122"/>
                <a:ea typeface="微软雅黑" panose="020B0402040204020203" charset="-122"/>
                <a:cs typeface="微软雅黑" panose="020B0402040204020203" charset="-122"/>
                <a:sym typeface="Noto Sans SC"/>
              </a:rPr>
              <a:t>构建“算力+园区+集群+人才”一体化生态，打造鲁南地区数字经济标杆园区，引领区域产业升级。</a:t>
            </a:r>
            <a:endParaRPr lang="zh-CN" altLang="en-US" sz="2200">
              <a:solidFill>
                <a:srgbClr val="CCD6F6"/>
              </a:solidFill>
              <a:latin typeface="微软雅黑" panose="020B0402040204020203" charset="-122"/>
              <a:ea typeface="微软雅黑" panose="020B0402040204020203" charset="-122"/>
              <a:cs typeface="微软雅黑" panose="020B0402040204020203" charset="-122"/>
              <a:sym typeface="Noto Sans SC"/>
            </a:endParaRPr>
          </a:p>
        </p:txBody>
      </p:sp>
      <p:pic>
        <p:nvPicPr>
          <p:cNvPr id="34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7042" y="1512768"/>
            <a:ext cx="421553" cy="421553"/>
          </a:xfrm>
          <a:prstGeom prst="rect">
            <a:avLst/>
          </a:prstGeom>
        </p:spPr>
      </p:pic>
      <p:pic>
        <p:nvPicPr>
          <p:cNvPr id="35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75943" y="1512768"/>
            <a:ext cx="421553" cy="421553"/>
          </a:xfrm>
          <a:prstGeom prst="rect">
            <a:avLst/>
          </a:prstGeom>
        </p:spPr>
      </p:pic>
      <p:pic>
        <p:nvPicPr>
          <p:cNvPr id="36" name="Picture 1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31520" y="1512768"/>
            <a:ext cx="421553" cy="421553"/>
          </a:xfrm>
          <a:prstGeom prst="rect">
            <a:avLst/>
          </a:prstGeom>
        </p:spPr>
      </p:pic>
      <p:pic>
        <p:nvPicPr>
          <p:cNvPr id="17" name="图片 16" descr="RGB鲁南 logo 1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91065" y="274320"/>
            <a:ext cx="2101850" cy="40513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84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85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86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87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88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94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95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96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9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8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99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100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101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102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103.xml><?xml version="1.0" encoding="utf-8"?>
<p:tagLst xmlns:p="http://schemas.openxmlformats.org/presentationml/2006/main">
  <p:tag name="KSO_WM_DIAGRAM_VIRTUALLY_FRAME" val="{&quot;height&quot;:207.15,&quot;left&quot;:117.4,&quot;top&quot;:145.2,&quot;width&quot;:1363.7}"/>
</p:tagLst>
</file>

<file path=ppt/tags/tag10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1877</Words>
  <Application>WPS 演示</Application>
  <PresentationFormat>宽屏</PresentationFormat>
  <Paragraphs>200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苹方-简</vt:lpstr>
      <vt:lpstr>微软雅黑</vt:lpstr>
      <vt:lpstr>汉仪书宋二KW</vt:lpstr>
      <vt:lpstr>宋体</vt:lpstr>
      <vt:lpstr>Arial Unicode MS</vt:lpstr>
      <vt:lpstr>Noto Sans SC</vt:lpstr>
      <vt:lpstr>Thonburi</vt:lpstr>
      <vt:lpstr>Arial Black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suzylee</dc:creator>
  <cp:lastModifiedBy>suzylee</cp:lastModifiedBy>
  <cp:revision>173</cp:revision>
  <dcterms:created xsi:type="dcterms:W3CDTF">2026-04-07T06:30:05Z</dcterms:created>
  <dcterms:modified xsi:type="dcterms:W3CDTF">2026-04-07T06:30:05Z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834AE5640462C2F82293D469ABBE38A1_41</vt:lpwstr>
  </property>
</Properties>
</file>